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Visuales conceptuales generados para EVCSE con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Visuales conceptuales generados para EVCSE con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Visuales conceptuales generados para EVCSE con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70" dirty="0">
                <a:solidFill>
                  <a:srgbClr val="00FF4D"/>
                </a:solidFill>
              </a:rPr>
              <a:t>APLICACIONES DE MARCA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5"/>
                </a:solidFill>
              </a:rPr>
              <a:t>Espacios + infraestructura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984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B9C2BD"/>
                </a:solidFill>
              </a:rPr>
              <a:t>Arquitectura interior · Experience Hub · fachada · estación</a:t>
            </a:r>
            <a:endParaRPr lang="en-US" sz="1100" dirty="0"/>
          </a:p>
        </p:txBody>
      </p:sp>
      <p:pic>
        <p:nvPicPr>
          <p:cNvPr id="5" name="Image 0" descr="/mnt/data/d9a4c0d5db.png"/>
          <p:cNvPicPr>
            <a:picLocks noChangeAspect="1"/>
          </p:cNvPicPr>
          <p:nvPr/>
        </p:nvPicPr>
        <p:blipFill>
          <a:blip r:embed="rId3"/>
          <a:srcRect l="10073" r="10073"/>
          <a:stretch/>
        </p:blipFill>
        <p:spPr>
          <a:xfrm>
            <a:off x="566928" y="1783080"/>
            <a:ext cx="4983480" cy="4160520"/>
          </a:xfrm>
          <a:prstGeom prst="rect">
            <a:avLst/>
          </a:prstGeom>
        </p:spPr>
      </p:pic>
      <p:pic>
        <p:nvPicPr>
          <p:cNvPr id="6" name="Image 1" descr="/mnt/data/e32438a137.png"/>
          <p:cNvPicPr>
            <a:picLocks noChangeAspect="1"/>
          </p:cNvPicPr>
          <p:nvPr/>
        </p:nvPicPr>
        <p:blipFill>
          <a:blip r:embed="rId4"/>
          <a:srcRect l="8946" r="8946"/>
          <a:stretch/>
        </p:blipFill>
        <p:spPr>
          <a:xfrm>
            <a:off x="5641848" y="1783080"/>
            <a:ext cx="2939796" cy="2034540"/>
          </a:xfrm>
          <a:prstGeom prst="rect">
            <a:avLst/>
          </a:prstGeom>
        </p:spPr>
      </p:pic>
      <p:pic>
        <p:nvPicPr>
          <p:cNvPr id="7" name="Image 2" descr="/mnt/data/4215b8ae24.png"/>
          <p:cNvPicPr>
            <a:picLocks noChangeAspect="1"/>
          </p:cNvPicPr>
          <p:nvPr/>
        </p:nvPicPr>
        <p:blipFill>
          <a:blip r:embed="rId5"/>
          <a:srcRect l="8529" r="8529"/>
          <a:stretch/>
        </p:blipFill>
        <p:spPr>
          <a:xfrm>
            <a:off x="8673084" y="1783080"/>
            <a:ext cx="2939796" cy="2034540"/>
          </a:xfrm>
          <a:prstGeom prst="rect">
            <a:avLst/>
          </a:prstGeom>
        </p:spPr>
      </p:pic>
      <p:pic>
        <p:nvPicPr>
          <p:cNvPr id="8" name="Image 3" descr="/mnt/data/2d8d3ef006.png"/>
          <p:cNvPicPr>
            <a:picLocks noChangeAspect="1"/>
          </p:cNvPicPr>
          <p:nvPr/>
        </p:nvPicPr>
        <p:blipFill>
          <a:blip r:embed="rId6"/>
          <a:srcRect t="24445" b="24445"/>
          <a:stretch/>
        </p:blipFill>
        <p:spPr>
          <a:xfrm>
            <a:off x="5641848" y="3909060"/>
            <a:ext cx="5971032" cy="203454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94360" y="6099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kern="0" spc="90" dirty="0">
                <a:solidFill>
                  <a:srgbClr val="00FF4D"/>
                </a:solidFill>
              </a:rPr>
              <a:t>RECEPCIÓN</a:t>
            </a:r>
            <a:endParaRPr lang="en-US" sz="650" dirty="0"/>
          </a:p>
        </p:txBody>
      </p:sp>
      <p:sp>
        <p:nvSpPr>
          <p:cNvPr id="10" name="Text 4"/>
          <p:cNvSpPr/>
          <p:nvPr/>
        </p:nvSpPr>
        <p:spPr>
          <a:xfrm>
            <a:off x="3337560" y="6099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kern="0" spc="90" dirty="0">
                <a:solidFill>
                  <a:srgbClr val="B9C2BD"/>
                </a:solidFill>
              </a:rPr>
              <a:t>HOSPITALITY</a:t>
            </a:r>
            <a:endParaRPr lang="en-US" sz="650" dirty="0"/>
          </a:p>
        </p:txBody>
      </p:sp>
      <p:sp>
        <p:nvSpPr>
          <p:cNvPr id="11" name="Text 5"/>
          <p:cNvSpPr/>
          <p:nvPr/>
        </p:nvSpPr>
        <p:spPr>
          <a:xfrm>
            <a:off x="6080760" y="6099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kern="0" spc="90" dirty="0">
                <a:solidFill>
                  <a:srgbClr val="B9C2BD"/>
                </a:solidFill>
              </a:rPr>
              <a:t>FACHADA</a:t>
            </a:r>
            <a:endParaRPr lang="en-US" sz="650" dirty="0"/>
          </a:p>
        </p:txBody>
      </p:sp>
      <p:sp>
        <p:nvSpPr>
          <p:cNvPr id="12" name="Text 6"/>
          <p:cNvSpPr/>
          <p:nvPr/>
        </p:nvSpPr>
        <p:spPr>
          <a:xfrm>
            <a:off x="8823960" y="6099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kern="0" spc="90" dirty="0">
                <a:solidFill>
                  <a:srgbClr val="B9C2BD"/>
                </a:solidFill>
              </a:rPr>
              <a:t>HUB</a:t>
            </a:r>
            <a:endParaRPr lang="en-US" sz="650" dirty="0"/>
          </a:p>
        </p:txBody>
      </p:sp>
      <p:sp>
        <p:nvSpPr>
          <p:cNvPr id="13" name="Shape 7"/>
          <p:cNvSpPr/>
          <p:nvPr/>
        </p:nvSpPr>
        <p:spPr>
          <a:xfrm>
            <a:off x="411480" y="6510528"/>
            <a:ext cx="11338560" cy="1"/>
          </a:xfrm>
          <a:prstGeom prst="line">
            <a:avLst/>
          </a:prstGeom>
          <a:noFill/>
          <a:ln w="12700">
            <a:solidFill>
              <a:srgbClr val="00FF4D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38912" y="656539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kern="0" spc="140" dirty="0">
                <a:solidFill>
                  <a:srgbClr val="B9C2BD"/>
                </a:solidFill>
              </a:rPr>
              <a:t>EVCSE  |  BRAND STANDARDS 2.5</a:t>
            </a:r>
            <a:endParaRPr lang="en-US" sz="600" dirty="0"/>
          </a:p>
        </p:txBody>
      </p:sp>
      <p:sp>
        <p:nvSpPr>
          <p:cNvPr id="15" name="Text 9"/>
          <p:cNvSpPr/>
          <p:nvPr/>
        </p:nvSpPr>
        <p:spPr>
          <a:xfrm>
            <a:off x="8686800" y="6565392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kern="0" spc="110" dirty="0">
                <a:solidFill>
                  <a:srgbClr val="B9C2BD"/>
                </a:solidFill>
              </a:rPr>
              <a:t>COLLAGE HORIZONTAL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70" dirty="0">
                <a:solidFill>
                  <a:srgbClr val="00FF4D"/>
                </a:solidFill>
              </a:rPr>
              <a:t>APLICACIONES DE MARCA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5"/>
                </a:solidFill>
              </a:rPr>
              <a:t>Carga + orientación + movilidad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984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B9C2BD"/>
                </a:solidFill>
              </a:rPr>
              <a:t>Estación · cargador · wayfinding · vehículos corporativos</a:t>
            </a:r>
            <a:endParaRPr lang="en-US" sz="1100" dirty="0"/>
          </a:p>
        </p:txBody>
      </p:sp>
      <p:pic>
        <p:nvPicPr>
          <p:cNvPr id="5" name="Image 0" descr="/mnt/data/453d93ec8c.png"/>
          <p:cNvPicPr>
            <a:picLocks noChangeAspect="1"/>
          </p:cNvPicPr>
          <p:nvPr/>
        </p:nvPicPr>
        <p:blipFill>
          <a:blip r:embed="rId3"/>
          <a:srcRect l="10073" r="10073"/>
          <a:stretch/>
        </p:blipFill>
        <p:spPr>
          <a:xfrm>
            <a:off x="566928" y="1783080"/>
            <a:ext cx="4983480" cy="4160520"/>
          </a:xfrm>
          <a:prstGeom prst="rect">
            <a:avLst/>
          </a:prstGeom>
        </p:spPr>
      </p:pic>
      <p:pic>
        <p:nvPicPr>
          <p:cNvPr id="6" name="Image 1" descr="/mnt/data/aeff13a5ed.png"/>
          <p:cNvPicPr>
            <a:picLocks noChangeAspect="1"/>
          </p:cNvPicPr>
          <p:nvPr/>
        </p:nvPicPr>
        <p:blipFill>
          <a:blip r:embed="rId4"/>
          <a:srcRect l="1835" r="1835"/>
          <a:stretch/>
        </p:blipFill>
        <p:spPr>
          <a:xfrm>
            <a:off x="5641848" y="1783080"/>
            <a:ext cx="2939796" cy="2034540"/>
          </a:xfrm>
          <a:prstGeom prst="rect">
            <a:avLst/>
          </a:prstGeom>
        </p:spPr>
      </p:pic>
      <p:pic>
        <p:nvPicPr>
          <p:cNvPr id="7" name="Image 2" descr="/mnt/data/ecf5015dad.png"/>
          <p:cNvPicPr>
            <a:picLocks noChangeAspect="1"/>
          </p:cNvPicPr>
          <p:nvPr/>
        </p:nvPicPr>
        <p:blipFill>
          <a:blip r:embed="rId5"/>
          <a:srcRect l="1835" r="1835"/>
          <a:stretch/>
        </p:blipFill>
        <p:spPr>
          <a:xfrm>
            <a:off x="8673084" y="1783080"/>
            <a:ext cx="2939796" cy="2034540"/>
          </a:xfrm>
          <a:prstGeom prst="rect">
            <a:avLst/>
          </a:prstGeom>
        </p:spPr>
      </p:pic>
      <p:pic>
        <p:nvPicPr>
          <p:cNvPr id="8" name="Image 3" descr="/mnt/data/20900f2826.png"/>
          <p:cNvPicPr>
            <a:picLocks noChangeAspect="1"/>
          </p:cNvPicPr>
          <p:nvPr/>
        </p:nvPicPr>
        <p:blipFill>
          <a:blip r:embed="rId6"/>
          <a:srcRect t="24445" b="24445"/>
          <a:stretch/>
        </p:blipFill>
        <p:spPr>
          <a:xfrm>
            <a:off x="5641848" y="3909060"/>
            <a:ext cx="5971032" cy="203454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94360" y="6099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kern="0" spc="90" dirty="0">
                <a:solidFill>
                  <a:srgbClr val="00FF4D"/>
                </a:solidFill>
              </a:rPr>
              <a:t>ESTACIÓN</a:t>
            </a:r>
            <a:endParaRPr lang="en-US" sz="650" dirty="0"/>
          </a:p>
        </p:txBody>
      </p:sp>
      <p:sp>
        <p:nvSpPr>
          <p:cNvPr id="10" name="Text 4"/>
          <p:cNvSpPr/>
          <p:nvPr/>
        </p:nvSpPr>
        <p:spPr>
          <a:xfrm>
            <a:off x="3337560" y="6099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kern="0" spc="90" dirty="0">
                <a:solidFill>
                  <a:srgbClr val="B9C2BD"/>
                </a:solidFill>
              </a:rPr>
              <a:t>CARGADOR</a:t>
            </a:r>
            <a:endParaRPr lang="en-US" sz="650" dirty="0"/>
          </a:p>
        </p:txBody>
      </p:sp>
      <p:sp>
        <p:nvSpPr>
          <p:cNvPr id="11" name="Text 5"/>
          <p:cNvSpPr/>
          <p:nvPr/>
        </p:nvSpPr>
        <p:spPr>
          <a:xfrm>
            <a:off x="6080760" y="6099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kern="0" spc="90" dirty="0">
                <a:solidFill>
                  <a:srgbClr val="B9C2BD"/>
                </a:solidFill>
              </a:rPr>
              <a:t>WAYFINDING</a:t>
            </a:r>
            <a:endParaRPr lang="en-US" sz="650" dirty="0"/>
          </a:p>
        </p:txBody>
      </p:sp>
      <p:sp>
        <p:nvSpPr>
          <p:cNvPr id="12" name="Text 6"/>
          <p:cNvSpPr/>
          <p:nvPr/>
        </p:nvSpPr>
        <p:spPr>
          <a:xfrm>
            <a:off x="8823960" y="6099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kern="0" spc="90" dirty="0">
                <a:solidFill>
                  <a:srgbClr val="B9C2BD"/>
                </a:solidFill>
              </a:rPr>
              <a:t>MOVILIDAD</a:t>
            </a:r>
            <a:endParaRPr lang="en-US" sz="650" dirty="0"/>
          </a:p>
        </p:txBody>
      </p:sp>
      <p:sp>
        <p:nvSpPr>
          <p:cNvPr id="13" name="Shape 7"/>
          <p:cNvSpPr/>
          <p:nvPr/>
        </p:nvSpPr>
        <p:spPr>
          <a:xfrm>
            <a:off x="411480" y="6510528"/>
            <a:ext cx="11338560" cy="1"/>
          </a:xfrm>
          <a:prstGeom prst="line">
            <a:avLst/>
          </a:prstGeom>
          <a:noFill/>
          <a:ln w="12700">
            <a:solidFill>
              <a:srgbClr val="00FF4D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38912" y="656539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kern="0" spc="140" dirty="0">
                <a:solidFill>
                  <a:srgbClr val="B9C2BD"/>
                </a:solidFill>
              </a:rPr>
              <a:t>EVCSE  |  BRAND STANDARDS 2.5</a:t>
            </a:r>
            <a:endParaRPr lang="en-US" sz="600" dirty="0"/>
          </a:p>
        </p:txBody>
      </p:sp>
      <p:sp>
        <p:nvSpPr>
          <p:cNvPr id="15" name="Text 9"/>
          <p:cNvSpPr/>
          <p:nvPr/>
        </p:nvSpPr>
        <p:spPr>
          <a:xfrm>
            <a:off x="8686800" y="6565392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kern="0" spc="110" dirty="0">
                <a:solidFill>
                  <a:srgbClr val="B9C2BD"/>
                </a:solidFill>
              </a:rPr>
              <a:t>COLLAGE HORIZONTAL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70" dirty="0">
                <a:solidFill>
                  <a:srgbClr val="00FF4D"/>
                </a:solidFill>
              </a:rPr>
              <a:t>APLICACIONES DE MARCA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F7F5"/>
                </a:solidFill>
              </a:rPr>
              <a:t>Personas + hospitality + ecosistema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984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B9C2BD"/>
                </a:solidFill>
              </a:rPr>
              <a:t>Uniformes · objetos · Coffee Experience · aplicaciones</a:t>
            </a:r>
            <a:endParaRPr lang="en-US" sz="1100" dirty="0"/>
          </a:p>
        </p:txBody>
      </p:sp>
      <p:pic>
        <p:nvPicPr>
          <p:cNvPr id="5" name="Image 0" descr="/mnt/data/5fa40a3b5d.png"/>
          <p:cNvPicPr>
            <a:picLocks noChangeAspect="1"/>
          </p:cNvPicPr>
          <p:nvPr/>
        </p:nvPicPr>
        <p:blipFill>
          <a:blip r:embed="rId3"/>
          <a:srcRect l="10073" r="10073"/>
          <a:stretch/>
        </p:blipFill>
        <p:spPr>
          <a:xfrm>
            <a:off x="566928" y="1783080"/>
            <a:ext cx="4983480" cy="4160520"/>
          </a:xfrm>
          <a:prstGeom prst="rect">
            <a:avLst/>
          </a:prstGeom>
        </p:spPr>
      </p:pic>
      <p:pic>
        <p:nvPicPr>
          <p:cNvPr id="6" name="Image 1" descr="/mnt/data/803d569afd.png"/>
          <p:cNvPicPr>
            <a:picLocks noChangeAspect="1"/>
          </p:cNvPicPr>
          <p:nvPr/>
        </p:nvPicPr>
        <p:blipFill>
          <a:blip r:embed="rId4"/>
          <a:srcRect l="1835" r="1835"/>
          <a:stretch/>
        </p:blipFill>
        <p:spPr>
          <a:xfrm>
            <a:off x="5641848" y="1783080"/>
            <a:ext cx="2939796" cy="2034540"/>
          </a:xfrm>
          <a:prstGeom prst="rect">
            <a:avLst/>
          </a:prstGeom>
        </p:spPr>
      </p:pic>
      <p:pic>
        <p:nvPicPr>
          <p:cNvPr id="7" name="Image 2" descr="/mnt/data/9d3a2dc10d.png"/>
          <p:cNvPicPr>
            <a:picLocks noChangeAspect="1"/>
          </p:cNvPicPr>
          <p:nvPr/>
        </p:nvPicPr>
        <p:blipFill>
          <a:blip r:embed="rId5"/>
          <a:srcRect l="8529" r="8529"/>
          <a:stretch/>
        </p:blipFill>
        <p:spPr>
          <a:xfrm>
            <a:off x="8673084" y="1783080"/>
            <a:ext cx="2939796" cy="2034540"/>
          </a:xfrm>
          <a:prstGeom prst="rect">
            <a:avLst/>
          </a:prstGeom>
        </p:spPr>
      </p:pic>
      <p:pic>
        <p:nvPicPr>
          <p:cNvPr id="8" name="Image 3" descr="/mnt/data/5d9188a17f.png"/>
          <p:cNvPicPr>
            <a:picLocks noChangeAspect="1"/>
          </p:cNvPicPr>
          <p:nvPr/>
        </p:nvPicPr>
        <p:blipFill>
          <a:blip r:embed="rId6"/>
          <a:srcRect t="24445" b="24445"/>
          <a:stretch/>
        </p:blipFill>
        <p:spPr>
          <a:xfrm>
            <a:off x="5641848" y="3909060"/>
            <a:ext cx="5971032" cy="203454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94360" y="6099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kern="0" spc="90" dirty="0">
                <a:solidFill>
                  <a:srgbClr val="00FF4D"/>
                </a:solidFill>
              </a:rPr>
              <a:t>UNIFORMES</a:t>
            </a:r>
            <a:endParaRPr lang="en-US" sz="650" dirty="0"/>
          </a:p>
        </p:txBody>
      </p:sp>
      <p:sp>
        <p:nvSpPr>
          <p:cNvPr id="10" name="Text 4"/>
          <p:cNvSpPr/>
          <p:nvPr/>
        </p:nvSpPr>
        <p:spPr>
          <a:xfrm>
            <a:off x="3337560" y="6099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kern="0" spc="90" dirty="0">
                <a:solidFill>
                  <a:srgbClr val="B9C2BD"/>
                </a:solidFill>
              </a:rPr>
              <a:t>OBJETOS</a:t>
            </a:r>
            <a:endParaRPr lang="en-US" sz="650" dirty="0"/>
          </a:p>
        </p:txBody>
      </p:sp>
      <p:sp>
        <p:nvSpPr>
          <p:cNvPr id="11" name="Text 5"/>
          <p:cNvSpPr/>
          <p:nvPr/>
        </p:nvSpPr>
        <p:spPr>
          <a:xfrm>
            <a:off x="6080760" y="6099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kern="0" spc="90" dirty="0">
                <a:solidFill>
                  <a:srgbClr val="B9C2BD"/>
                </a:solidFill>
              </a:rPr>
              <a:t>COFFEE</a:t>
            </a:r>
            <a:endParaRPr lang="en-US" sz="650" dirty="0"/>
          </a:p>
        </p:txBody>
      </p:sp>
      <p:sp>
        <p:nvSpPr>
          <p:cNvPr id="12" name="Text 6"/>
          <p:cNvSpPr/>
          <p:nvPr/>
        </p:nvSpPr>
        <p:spPr>
          <a:xfrm>
            <a:off x="8823960" y="60990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kern="0" spc="90" dirty="0">
                <a:solidFill>
                  <a:srgbClr val="B9C2BD"/>
                </a:solidFill>
              </a:rPr>
              <a:t>ECOSISTEMA</a:t>
            </a:r>
            <a:endParaRPr lang="en-US" sz="650" dirty="0"/>
          </a:p>
        </p:txBody>
      </p:sp>
      <p:sp>
        <p:nvSpPr>
          <p:cNvPr id="13" name="Shape 7"/>
          <p:cNvSpPr/>
          <p:nvPr/>
        </p:nvSpPr>
        <p:spPr>
          <a:xfrm>
            <a:off x="411480" y="6510528"/>
            <a:ext cx="11338560" cy="1"/>
          </a:xfrm>
          <a:prstGeom prst="line">
            <a:avLst/>
          </a:prstGeom>
          <a:noFill/>
          <a:ln w="12700">
            <a:solidFill>
              <a:srgbClr val="00FF4D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38912" y="656539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kern="0" spc="140" dirty="0">
                <a:solidFill>
                  <a:srgbClr val="B9C2BD"/>
                </a:solidFill>
              </a:rPr>
              <a:t>EVCSE  |  BRAND STANDARDS 2.5</a:t>
            </a:r>
            <a:endParaRPr lang="en-US" sz="600" dirty="0"/>
          </a:p>
        </p:txBody>
      </p:sp>
      <p:sp>
        <p:nvSpPr>
          <p:cNvPr id="15" name="Text 9"/>
          <p:cNvSpPr/>
          <p:nvPr/>
        </p:nvSpPr>
        <p:spPr>
          <a:xfrm>
            <a:off x="8686800" y="6565392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kern="0" spc="110" dirty="0">
                <a:solidFill>
                  <a:srgbClr val="B9C2BD"/>
                </a:solidFill>
              </a:rPr>
              <a:t>COLLAGE HORIZONTAL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Collages horizontales EVCSE</dc:title>
  <dc:subject>PptxGenJS Presentation</dc:subject>
  <dc:creator>Jose Mercado</dc:creator>
  <cp:lastModifiedBy>Jose Mercado</cp:lastModifiedBy>
  <cp:revision>2</cp:revision>
  <dcterms:created xsi:type="dcterms:W3CDTF">2026-10-11T23:32:14Z</dcterms:created>
  <dcterms:modified xsi:type="dcterms:W3CDTF">2026-10-12T00:54:54Z</dcterms:modified>
</cp:coreProperties>
</file>