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B9C2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EVCSE  |  BRAND SYSTEM 2.0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12480" y="6565392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0" dirty="0">
                <a:solidFill>
                  <a:srgbClr val="B9C2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CONFIDENCIAL · DOCUMENTO RECTOR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12700">
            <a:solidFill>
              <a:srgbClr val="06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063D2E"/>
                </a:solidFill>
              </a:rPr>
              <a:t>EVCSE  |  BRAND SYSTEM 2.0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D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7110D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66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5F7F5"/>
                </a:solidFill>
              </a:rPr>
              <a:t>EVCSE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20" dirty="0">
                <a:solidFill>
                  <a:srgbClr val="00FF4D"/>
                </a:solidFill>
              </a:rPr>
              <a:t>BRAND SYSTEM 2.0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92" y="1965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Tu vehículo carga.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Tú avanzas.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794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Manual Maestro de Marca · Estructura integral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4617720"/>
            <a:ext cx="3291840" cy="1"/>
          </a:xfrm>
          <a:prstGeom prst="line">
            <a:avLst/>
          </a:prstGeom>
          <a:noFill/>
          <a:ln w="50800">
            <a:solidFill>
              <a:srgbClr val="00FF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8006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70" dirty="0">
                <a:solidFill>
                  <a:srgbClr val="F5F7F5"/>
                </a:solidFill>
              </a:rPr>
              <a:t>OCTUBRE 2026  |  COLOMBIA · LATINOAMÉRICA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INTRODUCCIÓN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Cómo utilizar este manual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Una referencia común para estrategia, comunicación, producto, espacios y expansión.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54864" cy="214884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Junta e inversión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21945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Decisiones estratégicas y valor empresarial.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3008" y="246888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2468880"/>
            <a:ext cx="54864" cy="21488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Marca y comunicación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4176" y="3035808"/>
            <a:ext cx="21945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Consistencia verbal, visual y editorial.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45936" y="246888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5936" y="2468880"/>
            <a:ext cx="54864" cy="21488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Producto digital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7104" y="3035808"/>
            <a:ext cx="21945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App, web, estados y experiencia.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98864" y="246888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2468880"/>
            <a:ext cx="54864" cy="21488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Arquitectura y aliados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00032" y="3035808"/>
            <a:ext cx="21945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Experience Hub, formatos y co-branding.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63D2E"/>
                </a:solidFill>
              </a:rPr>
              <a:t>Principio rector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541324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7110D"/>
                </a:solidFill>
              </a:rPr>
              <a:t>Toda aplicación debe convertir el tiempo de carga en más valor para la persona y en una oportunidad replicable para EVCSE y sus aliados.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NAVEGACIÓN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Contenido del sistema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Ocho bloques conectados por una misma promesa de marca.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01 Fundamentos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214884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02 Identidad verbal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2926080"/>
            <a:ext cx="214884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03 Logotipo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2926080"/>
            <a:ext cx="214884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04 Sistema visual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89720" y="2926080"/>
            <a:ext cx="214884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05 Experiencia digital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214884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06 Experiencia física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20440" y="4343400"/>
            <a:ext cx="214884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07 Comunicación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4343400"/>
            <a:ext cx="214884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08 Gobierno de marca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89720" y="4343400"/>
            <a:ext cx="214884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1536" r="21536"/>
          <a:stretch/>
        </p:blipFill>
        <p:spPr>
          <a:xfrm>
            <a:off x="6629400" y="0"/>
            <a:ext cx="555955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0"/>
            <a:ext cx="555955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Fundamentos estratégicos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La carga es el habilitador. La experiencia es el diferenciador. El tiempo es el territorio.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ORIGEN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Una idea nacida de una fricción real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Dos problemas dieron origen a una visión más amplia de la movilidad eléctrica.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77440"/>
            <a:ext cx="54864" cy="22402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01 · Disponibilidad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944368"/>
            <a:ext cx="4846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Encontrar infraestructura confiable, compatible y realmente disponible.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377440"/>
            <a:ext cx="54864" cy="22402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02 · Tiempo perdido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4808" y="2944368"/>
            <a:ext cx="4846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sesión de carga obliga a detener el viaje, pero no debería detener a la persona.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63D2E"/>
                </a:solidFill>
              </a:rPr>
              <a:t>La oportunidad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394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7110D"/>
                </a:solidFill>
              </a:rPr>
              <a:t>Transformar una necesidad técnica en una experiencia que genere productividad, bienestar y conexión.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DEFINICIÓN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Qué es EVCSE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Una plataforma físico-digital de experiencias para movilidad eléctrica.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D"/>
                </a:solidFill>
              </a:rPr>
              <a:t>EVCSE integra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88920"/>
            <a:ext cx="54864" cy="9601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9535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Carga confiable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335584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7889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88920"/>
            <a:ext cx="54864" cy="9601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9535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Tecnología silenciosa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0288" y="335584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788920"/>
            <a:ext cx="54864" cy="9601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29535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Productividad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335584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023360"/>
            <a:ext cx="54864" cy="9601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187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Hospitalidad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" y="459028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40233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4023360"/>
            <a:ext cx="54864" cy="9601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4187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Comunidad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90288" y="459028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402336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4023360"/>
            <a:ext cx="54864" cy="9601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187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Datos y servicios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93608" y="459028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70" dirty="0">
                <a:solidFill>
                  <a:srgbClr val="00FF4D"/>
                </a:solidFill>
              </a:rPr>
              <a:t>SÍNTESIS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926080" y="593445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9C2BD"/>
                </a:solidFill>
              </a:rPr>
              <a:t>La infraestructura habilita. La experiencia diferencia. La relación con el usuario escala.</a:t>
            </a:r>
            <a:endParaRPr lang="en-US" sz="1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POSICIONAMIENTO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Lo que somos. Lo que no somos.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claridad estratégica protege la marca frente a la comoditización.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C5C"/>
                </a:solidFill>
              </a:rPr>
              <a:t>EVCSE NO 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87121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889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Una electrolinera genérica.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51129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4290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Una comercializadora de energía.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15137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69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 catálogo de cargadores.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79145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091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Una empresa de infraestructura sin experiencia.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2240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3D2E"/>
                </a:solidFill>
              </a:rPr>
              <a:t>EVCSE SÍ ES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17920" y="287121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7889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Una Experience Network.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1129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4290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Una plataforma físico-digital.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15137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69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 sistema de Tiempo de Valor.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791456"/>
            <a:ext cx="109728" cy="109728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7091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Una relación recurrente con usuarios y aliados.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NÚCLEO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Propósito, misión y visión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Tres horizontes que organizan la toma de decisiones.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54864" cy="28803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96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898648"/>
            <a:ext cx="30632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Impulsar la movilidad eléctrica a través de experiencias inteligentes, sostenibles y humanas.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331720"/>
            <a:ext cx="54864" cy="28803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496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MISIÓN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2898648"/>
            <a:ext cx="30632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Transformar el tiempo de carga en tiempo de valor mediante espacios, servicios y tecnología diseñados para las personas.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23317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331720"/>
            <a:ext cx="54864" cy="28803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2496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VISIÓN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2898648"/>
            <a:ext cx="30632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Convertirnos en la red de experiencias para movilidad eléctrica más confiable y reconocida de Colombia y Latinoamérica.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ARQUITECTURA CONCEPTUAL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Una idea. Cuatro niveles.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Cada nivel cumple una función distinta dentro del sistema de marca.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63D2E"/>
                </a:solidFill>
              </a:rPr>
              <a:t>MARCA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2048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10D"/>
                </a:solidFill>
              </a:rPr>
              <a:t>EVCSE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0" y="2103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La firma que concentra el valor.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670048"/>
            <a:ext cx="10515600" cy="1"/>
          </a:xfrm>
          <a:prstGeom prst="line">
            <a:avLst/>
          </a:prstGeom>
          <a:noFill/>
          <a:ln w="12700">
            <a:solidFill>
              <a:srgbClr val="D3D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63D2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30083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10D"/>
                </a:solidFill>
              </a:rPr>
              <a:t>Experience Network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9280" y="3063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Cómo nos presentamos comercialmente.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630168"/>
            <a:ext cx="10515600" cy="1"/>
          </a:xfrm>
          <a:prstGeom prst="line">
            <a:avLst/>
          </a:prstGeom>
          <a:noFill/>
          <a:ln w="12700">
            <a:solidFill>
              <a:srgbClr val="D3D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63D2E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0" y="3968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Experience Platform™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69280" y="4023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Cómo explicamos el modelo a aliados e inversionistas.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590288"/>
            <a:ext cx="10515600" cy="1"/>
          </a:xfrm>
          <a:prstGeom prst="line">
            <a:avLst/>
          </a:prstGeom>
          <a:noFill/>
          <a:ln w="12700">
            <a:solidFill>
              <a:srgbClr val="D3D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83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63D2E"/>
                </a:solidFill>
              </a:rPr>
              <a:t>TERRITORIO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0" y="4928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10D"/>
                </a:solidFill>
              </a:rPr>
              <a:t>Tiempo de Valor™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69280" y="49834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El espacio mental que queremos poseer.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5550408"/>
            <a:ext cx="10515600" cy="1"/>
          </a:xfrm>
          <a:prstGeom prst="line">
            <a:avLst/>
          </a:prstGeom>
          <a:noFill/>
          <a:ln w="12700">
            <a:solidFill>
              <a:srgbClr val="D3DBD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PROMESA DE MARCA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7F5"/>
                </a:solidFill>
              </a:rPr>
              <a:t>Transformamos el tiempo de carga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FF4D"/>
                </a:solidFill>
              </a:rPr>
              <a:t>en tiempo de valor.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7490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Mientras el vehículo recupera energía, las personas recuperan oportunidades.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18120" y="4663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CARGA  →  EXPERIENCIA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ESPERA  →  APROVECHAR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ENERGÍA  →  VALOR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PERSONALIDAD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Premium útil, no lujo superficial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marca demuestra calidad a través del funcionamiento, la claridad y el cuidado.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3D2E"/>
                </a:solidFill>
              </a:rPr>
              <a:t>SOMOS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C5C"/>
                </a:solidFill>
              </a:rPr>
              <a:t>NUNCA SOMOS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Humana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Precisa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Confiable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Contemporánea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Optimista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Inteligente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Cercana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4572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10D"/>
                </a:solidFill>
              </a:rPr>
              <a:t>✓  Visionaria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Estridente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Cyberpunk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Industrial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3252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Fría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Pretenciosa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Técnica primero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Corporativa vacía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4572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×  Artificialmente futurista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Identidad verbal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Una voz humana, breve y segura. Beneficio antes que especificación.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VOZ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Cuatro propiedades constantes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expresión cambia por audiencia, pero la personalidad permanece.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237744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377440"/>
            <a:ext cx="54864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420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BREVE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94436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Decir menos y comunicar más.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7744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377440"/>
            <a:ext cx="54864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25420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HUMANA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12464" y="294436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Hablar de la persona antes que de la máquina.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7648" y="237744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2377440"/>
            <a:ext cx="54864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25420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SEGURA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94436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Evitar exageraciones y superlativos vacíos.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237744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2377440"/>
            <a:ext cx="54864" cy="242316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25420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INTELIGENTE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45168" y="294436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Simplificar sin perder precisión.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63D2E"/>
                </a:solidFill>
              </a:rPr>
              <a:t>Orden narrativo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596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7110D"/>
                </a:solidFill>
              </a:rPr>
              <a:t>PERSONAS  →  EXPERIENCIA  →  BENEFICIO  →  TECNOLOGÍA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GRAMÁTICA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El idioma de la marca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Verbos simples convierten la movilidad en acción.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FF4D"/>
                </a:solidFill>
              </a:rPr>
              <a:t>AVANZA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47472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7F5"/>
                </a:solidFill>
              </a:rPr>
              <a:t>CONECTA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6364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FF4D"/>
                </a:solidFill>
              </a:rPr>
              <a:t>RECUPERA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05256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7F5"/>
                </a:solidFill>
              </a:rPr>
              <a:t>APROVECHA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FF4D"/>
                </a:solidFill>
              </a:rPr>
              <a:t>CONTINÚA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74720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7F5"/>
                </a:solidFill>
              </a:rPr>
              <a:t>LLEGA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263640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FF4D"/>
                </a:solidFill>
              </a:rPr>
              <a:t>TRABAJA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052560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7F5"/>
                </a:solidFill>
              </a:rPr>
              <a:t>DESCANSA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B9C2BD"/>
                </a:solidFill>
              </a:rPr>
              <a:t>Evitar: “somos líderes”, “soluciones innovadoras”, “tecnología de vanguardia”, “experiencia única”.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APLICACIÓN VERBAL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De especificación a valor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tecnología sigue presente, pero deja de ser el primer argumento.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B9C2BD"/>
                </a:solidFill>
              </a:rPr>
              <a:t>Cargadores rápidos DC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4D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0" y="2148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110D"/>
                </a:solidFill>
              </a:rPr>
              <a:t>Vuelve a la ruta. Sin perder tu tiempo.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B9C2BD"/>
                </a:solidFill>
              </a:rPr>
              <a:t>Espacios de coworking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4D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0" y="3108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110D"/>
                </a:solidFill>
              </a:rPr>
              <a:t>Tu vehículo carga. Tu trabajo continúa.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B9C2BD"/>
                </a:solidFill>
              </a:rPr>
              <a:t>Lounge climatizado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4D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40690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110D"/>
                </a:solidFill>
              </a:rPr>
              <a:t>Haz una pausa sin detener tu viaje.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B9C2BD"/>
                </a:solidFill>
              </a:rPr>
              <a:t>Reserva en la 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5029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4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110D"/>
                </a:solidFill>
              </a:rPr>
              <a:t>Antes de llegar, tu lugar puede estar listo.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TONO POR AUDIENCIA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Una personalidad. Seis expresiones.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Cada unidad habla desde el valor que debe generar.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54864" cy="1280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8072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24 minutos. Tú decides qué hacer con ellos.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62272" y="2240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2240280"/>
            <a:ext cx="54864" cy="1280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MEMBERS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8072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Más beneficios mientras avanzas.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84464" y="2240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2240280"/>
            <a:ext cx="54864" cy="1280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BUSINESS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85632" y="28072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Convierte la carga en una razón para quedarse.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94760"/>
            <a:ext cx="54864" cy="1280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FLEET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43616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Menos incertidumbre. Más vehículos disponibles.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62272" y="3794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3794760"/>
            <a:ext cx="54864" cy="1280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PARTNER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3616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Convierte una ubicación en un nuevo punto de valor.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84464" y="37947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3794760"/>
            <a:ext cx="54864" cy="1280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INVEST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5632" y="436168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Valor más allá de la energía.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MENSAJES MAESTROS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Una jerarquía, no un solo slogan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Cada mensaje tiene un rol concreto en la comunicación.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63D2E"/>
                </a:solidFill>
              </a:rPr>
              <a:t>CORPORATIVO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7110D"/>
                </a:solidFill>
              </a:rPr>
              <a:t>Transformamos el tiempo de carga en tiempo de valor.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8163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63D2E"/>
                </a:solidFill>
              </a:rPr>
              <a:t>CONSUMIDOR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0" y="277063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7110D"/>
                </a:solidFill>
              </a:rPr>
              <a:t>Tu vehículo carga. Tú avanzas.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6210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63D2E"/>
                </a:solidFill>
              </a:rPr>
              <a:t>FILOSOFÍA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0" y="357530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7110D"/>
                </a:solidFill>
              </a:rPr>
              <a:t>Mientras tu vehículo recupera energía, tú recuperas oportunidades.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4256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63D2E"/>
                </a:solidFill>
              </a:rPr>
              <a:t>MOVIMIENTO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0" y="437997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7110D"/>
                </a:solidFill>
              </a:rPr>
              <a:t>Recuperemos el tiempo.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5230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63D2E"/>
                </a:solidFill>
              </a:rPr>
              <a:t>CAMPAÑA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0" y="518464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7110D"/>
                </a:solidFill>
              </a:rPr>
              <a:t>¿Qué harías con 30 minutos?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rcRect l="7303" r="7303"/>
          <a:stretch/>
        </p:blipFill>
        <p:spPr>
          <a:xfrm>
            <a:off x="6629400" y="0"/>
            <a:ext cx="555955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0"/>
            <a:ext cx="555955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Logotipo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Una geometría que sintetiza conexión, energía, movimiento y continuidad.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SISTEMA DE LOGO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El símbolo EVCSE 2.0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nueva geometría desplaza la lectura de electricidad hacia energía en movimiento.</a:t>
            </a:r>
            <a:endParaRPr lang="en-US" sz="1300" dirty="0"/>
          </a:p>
        </p:txBody>
      </p:sp>
      <p:pic>
        <p:nvPicPr>
          <p:cNvPr id="5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38404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96596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0" y="1965960"/>
            <a:ext cx="54864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3248" y="2130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CÍRCULO ABIERTO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13248" y="2532888"/>
            <a:ext cx="5303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Continuidad, ecosistema y avance.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12080" y="290779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907792"/>
            <a:ext cx="54864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248" y="30723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TRAZO INTERIOR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13248" y="3474720"/>
            <a:ext cx="5303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Conexión y energía que continúa.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12080" y="3849624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3849624"/>
            <a:ext cx="54864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13248" y="40142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E ABSTRACTA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13248" y="4416552"/>
            <a:ext cx="5303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EVCSE, energía, experiencia y ecosistema.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12080" y="4791456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4791456"/>
            <a:ext cx="54864" cy="749808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3248" y="49560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APERTURA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13248" y="5358384"/>
            <a:ext cx="5303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carga forma parte del movimiento.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CONFIGURACIONES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Versiones maestras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La geometría permanece; la composición responde al contexto.</a:t>
            </a:r>
            <a:endParaRPr lang="en-US" sz="130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108960" cy="3108960"/>
          </a:xfrm>
          <a:prstGeom prst="rect">
            <a:avLst/>
          </a:prstGeom>
        </p:spPr>
      </p:pic>
      <p:pic>
        <p:nvPicPr>
          <p:cNvPr id="6" name="Image 1" descr="/mnt/data/Designer (1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240280"/>
            <a:ext cx="3108960" cy="3108960"/>
          </a:xfrm>
          <a:prstGeom prst="rect">
            <a:avLst/>
          </a:prstGeom>
        </p:spPr>
      </p:pic>
      <p:pic>
        <p:nvPicPr>
          <p:cNvPr id="7" name="Image 2" descr="/mnt/data/Designer (1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68880"/>
            <a:ext cx="256032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5715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B9C2BD"/>
                </a:solidFill>
              </a:rPr>
              <a:t>FONDO OSCURO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4983480" y="5715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B9C2BD"/>
                </a:solidFill>
              </a:rPr>
              <a:t>FONDO CLARO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823960" y="5715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B9C2BD"/>
                </a:solidFill>
              </a:rPr>
              <a:t>ISOTIPO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ENERGY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Un gradiente con significado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El gradiente es una narrativa de movimiento, no un efecto decorativo.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0698480" cy="9601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99E8"/>
                </a:solidFill>
              </a:rPr>
              <a:t>MOVILIDAD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DB8"/>
                </a:solidFill>
              </a:rPr>
              <a:t>CONEXIÓN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4D"/>
                </a:solidFill>
              </a:rPr>
              <a:t>ENERGÍA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5548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3D2E"/>
                </a:solidFill>
              </a:rPr>
              <a:t>AVANCE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2A27"/>
                </a:solidFill>
              </a:rPr>
              <a:t>Uso recomendado: isotipo, Energy Flow y motion. No inundar superficies, textos o interfaces con el gradiente.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PROTECCIÓN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Área de seguridad y tamaño mínimo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El logo necesita espacio para conservar claridad y autoridad.</a:t>
            </a:r>
            <a:endParaRPr lang="en-US" sz="130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57400"/>
            <a:ext cx="34290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965960"/>
            <a:ext cx="4343400" cy="36118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0" y="21488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2148840"/>
            <a:ext cx="54864" cy="1280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16168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DIGITAL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16168" y="2715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Isotipo: 24 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completo: 96 px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49640" y="21488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2148840"/>
            <a:ext cx="54864" cy="1280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50808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IMPRESO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50808" y="2715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Isotipo: 10 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completo: 32 mm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069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2BD"/>
                </a:solidFill>
              </a:rPr>
              <a:t>Módulo X sugerido: ancho de una terminación del símbolo. El archivo vectorial definitivo debe fijar la medida exacta.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INTEGRIDAD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Usos incorrectos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consistencia protege el reconocimiento y el valor acumulado de la marca.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distorsionar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2152" y="22402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59352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rotar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18504" y="22402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75704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cambiar colores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34856" y="224028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92056" y="23957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añadir sombras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904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añadir glow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02152" y="37490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59352" y="3904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usar sobre fondos sin contraste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18504" y="37490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75704" y="3904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sustituir el wordmark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34856" y="374904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</a:rPr>
              <a:t>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92056" y="39044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No integrar el claim al logo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4470" r="4470"/>
          <a:stretch/>
        </p:blipFill>
        <p:spPr>
          <a:xfrm>
            <a:off x="6629400" y="0"/>
            <a:ext cx="555955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0"/>
            <a:ext cx="555955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Sistema visual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Una identidad reconocible incluso cuando el logo no aparece.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COLOR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Paleta cromática oficial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Cada color responde a una función específica dentro de la experiencia.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572768" cy="14173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DEEP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279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#07110D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Confianza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286000"/>
            <a:ext cx="1572768" cy="1417320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ENERGY GREEN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4279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#00FF4D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286000"/>
            <a:ext cx="1572768" cy="1417320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FOREST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62272" y="4279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#063D2E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Institución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64224" y="2286000"/>
            <a:ext cx="1572768" cy="141732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CLOUD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4279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#F5F7F5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64224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Humanidad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66176" y="2286000"/>
            <a:ext cx="1572768" cy="14173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GRAPHITE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66176" y="4279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#242A27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66176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Superficie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68128" y="2286000"/>
            <a:ext cx="1572768" cy="1417320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8128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SILVER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68128" y="4279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#B9C2BD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8128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Información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1520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Regla: el verde no decora. El verde significa que algo está sucediendo.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TIPOGRAFÍA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Sora + Inter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Una combinación diseñada para marca, producto y datos.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F7F5"/>
                </a:solidFill>
              </a:rPr>
              <a:t>Sora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2907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FF4D"/>
                </a:solidFill>
              </a:rPr>
              <a:t>Marca · titulares · señalización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B9C2BD"/>
                </a:solidFill>
              </a:rPr>
              <a:t>Aa Bb Cc Dd Ee Ff Gg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B9C2BD"/>
                </a:solidFill>
              </a:rPr>
              <a:t>0123456789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F7F5"/>
                </a:solidFill>
              </a:rPr>
              <a:t>Inter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46520" y="2907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DB8"/>
                </a:solidFill>
              </a:rPr>
              <a:t>Interfaces · texto ·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3566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B9C2BD"/>
                </a:solidFill>
              </a:rPr>
              <a:t>Aa Bb Cc Dd Ee Ff Gg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B9C2BD"/>
                </a:solidFill>
              </a:rPr>
              <a:t>0123456789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El wordmark es personalizado y no debe reconstruirse con una fuente estándar.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CÓDIGOS PROPIETARIOS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Energy Line + Value Clock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Dos recursos convierten la estrategia en una identidad reconocible.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3840480" cy="2194560"/>
          </a:xfrm>
          <a:prstGeom prst="arc">
            <a:avLst/>
          </a:prstGeom>
          <a:solidFill>
            <a:srgbClr val="000000">
              <a:alpha val="0"/>
            </a:srgbClr>
          </a:solidFill>
          <a:ln w="101600">
            <a:solidFill>
              <a:srgbClr val="00FF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6868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50474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2A27"/>
                </a:solidFill>
              </a:rPr>
              <a:t>La energía entra, conecta y continúa.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2057400"/>
            <a:ext cx="2606040" cy="2606040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D5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400000">
            <a:off x="6537960" y="2057400"/>
            <a:ext cx="2606040" cy="2606040"/>
          </a:xfrm>
          <a:prstGeom prst="arc">
            <a:avLst/>
          </a:prstGeom>
          <a:solidFill>
            <a:srgbClr val="000000">
              <a:alpha val="0"/>
            </a:srgbClr>
          </a:solidFill>
          <a:ln w="177800">
            <a:solidFill>
              <a:srgbClr val="00F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7249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7110D"/>
                </a:solidFill>
              </a:rPr>
              <a:t>24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903720" y="3401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0D"/>
                </a:solidFill>
              </a:rPr>
              <a:t>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79592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VALUE CLOCK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79592" y="50474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2A27"/>
                </a:solidFill>
              </a:rPr>
              <a:t>Los minutos se convierten en posibilidades.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FOTOGRAFÍA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Life over hardware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La infraestructura está presente, pero la vida lleva la historia.</a:t>
            </a:r>
            <a:endParaRPr lang="en-US" sz="130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9615" b="9615"/>
          <a:stretch/>
        </p:blipFill>
        <p:spPr>
          <a:xfrm>
            <a:off x="594360" y="2057400"/>
            <a:ext cx="6537960" cy="3520440"/>
          </a:xfrm>
          <a:prstGeom prst="rect">
            <a:avLst/>
          </a:prstGeom>
        </p:spPr>
      </p:pic>
      <p:pic>
        <p:nvPicPr>
          <p:cNvPr id="6" name="Image 1" descr="/mnt/data/WhatsApp Image 2026-09-23 at 11.40.36 AM.jpeg"/>
          <p:cNvPicPr>
            <a:picLocks noChangeAspect="1"/>
          </p:cNvPicPr>
          <p:nvPr/>
        </p:nvPicPr>
        <p:blipFill>
          <a:blip r:embed="rId4"/>
          <a:srcRect t="11178" b="11178"/>
          <a:stretch/>
        </p:blipFill>
        <p:spPr>
          <a:xfrm>
            <a:off x="7360920" y="2057400"/>
            <a:ext cx="425196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70%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2011680" y="5010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5F7F5"/>
                </a:solidFill>
              </a:rPr>
              <a:t>VIDA · EXPERIENCIA · CONTEXTO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DB8"/>
                </a:solidFill>
              </a:rPr>
              <a:t>30%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778240" y="50109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5F7F5"/>
                </a:solidFill>
              </a:rPr>
              <a:t>MOVILIDAD · INFRAESTRUCTURA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Experiencia digital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La tecnología resuelve sin obligar a pensar en la tecnología.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PRODUCTO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Quiet Technology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Una experiencia simple por delante y una plataforma sólida por detrás.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097280" cy="109728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770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5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LLEGA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65960" y="3063240"/>
            <a:ext cx="1600200" cy="1"/>
          </a:xfrm>
          <a:prstGeom prst="line">
            <a:avLst/>
          </a:prstGeom>
          <a:noFill/>
          <a:ln w="25400">
            <a:solidFill>
              <a:srgbClr val="B9C2B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11880" y="2514600"/>
            <a:ext cx="1097280" cy="109728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2770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5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CONECTA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1600200" cy="1"/>
          </a:xfrm>
          <a:prstGeom prst="line">
            <a:avLst/>
          </a:prstGeom>
          <a:noFill/>
          <a:ln w="25400">
            <a:solidFill>
              <a:srgbClr val="B9C2B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2514600"/>
            <a:ext cx="1097280" cy="109728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2770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5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8932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APROVECHA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43800" y="3063240"/>
            <a:ext cx="1600200" cy="1"/>
          </a:xfrm>
          <a:prstGeom prst="line">
            <a:avLst/>
          </a:prstGeom>
          <a:noFill/>
          <a:ln w="25400">
            <a:solidFill>
              <a:srgbClr val="B9C2B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2514600"/>
            <a:ext cx="1097280" cy="109728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2770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10D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7824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CONTINÚA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9834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42A27"/>
                </a:solidFill>
              </a:rPr>
              <a:t>El usuario ve disponibilidad, tiempo, opciones y progreso. La complejidad queda en la plataforma.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APP EXPERIENCE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La experiencia en la palma de la mano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La App conecta certeza, reserva, carga, tiempo y recompensa.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04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61288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Inicio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47288" y="224028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404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14216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Mapa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0216" y="224028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404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67144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Estación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53144" y="224028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2404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720072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Reserva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822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6128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Carga activa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447288" y="3657600"/>
            <a:ext cx="2542032" cy="1051560"/>
          </a:xfrm>
          <a:prstGeom prst="roundRect">
            <a:avLst/>
          </a:prstGeom>
          <a:solidFill>
            <a:srgbClr val="242A27"/>
          </a:solidFill>
          <a:ln w="25400">
            <a:solidFill>
              <a:srgbClr val="00FF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822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4D"/>
                </a:solidFill>
              </a:rPr>
              <a:t>06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14216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Tiempo de Valor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0216" y="365760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3822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67144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Finalización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153144" y="3657600"/>
            <a:ext cx="2542032" cy="10515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942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3822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9C2BD"/>
                </a:solidFill>
              </a:rPr>
              <a:t>08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720072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5"/>
                </a:solidFill>
              </a:rPr>
              <a:t>Members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PANTALLA ICÓNICA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El tiempo se vuelve producto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EVCSE no solo muestra cuánto falta. Sugiere cómo aprovecharlo.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337560" cy="40690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24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423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b="1" dirty="0">
                <a:solidFill>
                  <a:srgbClr val="00FF4D"/>
                </a:solidFill>
              </a:rPr>
              <a:t>24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1600200" y="3355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5"/>
                </a:solidFill>
              </a:rPr>
              <a:t>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3856" y="40050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Tu vehículo carga.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Tú avanzas.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52578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60" dirty="0">
                <a:solidFill>
                  <a:srgbClr val="B9C2BD"/>
                </a:solidFill>
              </a:rPr>
              <a:t>TRABAJAR   CAFÉ   LLAMAR   DESCANSAR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965960"/>
            <a:ext cx="54864" cy="786384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21305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CERTEZA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2532888"/>
            <a:ext cx="5669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Disponibilidad y compatibilidad antes de llegar.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953512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953512"/>
            <a:ext cx="54864" cy="786384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31181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LIBERTAD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3520440"/>
            <a:ext cx="5669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Elegir qué hacer durante la carga.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941064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941064"/>
            <a:ext cx="54864" cy="786384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4105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PROGRESO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01768" y="4507992"/>
            <a:ext cx="5669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Estado, alertas y autonomía recuperada.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4928616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4928616"/>
            <a:ext cx="54864" cy="786384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50932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RECURRENCIA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5495544"/>
            <a:ext cx="5669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Puntos, beneficios y comunidad.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WEB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De sitio corporativo a plataforma de crecimiento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La web debe vender visión, experiencia, red y oportunidades.</a:t>
            </a:r>
            <a:endParaRPr lang="en-US" sz="130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3804" b="3804"/>
          <a:stretch/>
        </p:blipFill>
        <p:spPr>
          <a:xfrm>
            <a:off x="640080" y="1965960"/>
            <a:ext cx="630936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6309360" cy="3886200"/>
          </a:xfrm>
          <a:prstGeom prst="rect">
            <a:avLst/>
          </a:prstGeom>
          <a:solidFill>
            <a:srgbClr val="07110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7432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Tu vehículo carga.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Tú avanzas.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1005840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BD"/>
                </a:solidFill>
              </a:rPr>
              <a:t>Transformamos el tiempo de carga en tiempo de valor.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438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D"/>
                </a:solidFill>
              </a:rPr>
              <a:t>Home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5554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Experiencia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Estaciones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55548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App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Empresas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5548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Inversionistas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Nosotros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55548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Contacto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1536" r="21536"/>
          <a:stretch/>
        </p:blipFill>
        <p:spPr>
          <a:xfrm>
            <a:off x="6629400" y="0"/>
            <a:ext cx="555955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0"/>
            <a:ext cx="555955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Experiencia física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El espacio convierte la promesa de marca en una experiencia tangible.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EXPERIENCE HUB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Premium útil en cada detalle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arquitectura debe demostrar confianza antes de explicar tecnología.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233172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331720"/>
            <a:ext cx="54864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96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FUNCIONA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89864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Disponibilidad, conectividad y pago.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3172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331720"/>
            <a:ext cx="54864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2496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ORIENTA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12464" y="289864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Señalización visible y comprensible.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7648" y="233172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2331720"/>
            <a:ext cx="54864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2496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CUIDA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89864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Seguridad, limpieza y comodidad.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2331720"/>
            <a:ext cx="254203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2331720"/>
            <a:ext cx="54864" cy="242316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24963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ACTIVA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45168" y="2898648"/>
            <a:ext cx="217627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Work, Pause, Connect y Coffee.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63D2E"/>
                </a:solidFill>
              </a:rPr>
              <a:t>Materialidad recomendada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Deep · Graphite mate · vidrio · concreto · madera natural · vegetación · luz neutra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WAYFINDING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Verde = avanzar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El lenguaje físico comparte la misma semántica que App y web.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965960" cy="1280160"/>
          </a:xfrm>
          <a:prstGeom prst="roundRect">
            <a:avLst/>
          </a:prstGeom>
          <a:solidFill>
            <a:srgbClr val="242A27"/>
          </a:solidFill>
          <a:ln w="25400">
            <a:solidFill>
              <a:srgbClr val="00F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724912"/>
            <a:ext cx="594360" cy="59436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977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5"/>
                </a:solidFill>
              </a:rPr>
              <a:t>DISPONIBLE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98648" y="2423160"/>
            <a:ext cx="1965960" cy="1280160"/>
          </a:xfrm>
          <a:prstGeom prst="roundRect">
            <a:avLst/>
          </a:prstGeom>
          <a:solidFill>
            <a:srgbClr val="242A27"/>
          </a:solidFill>
          <a:ln w="25400">
            <a:solidFill>
              <a:srgbClr val="F5F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2724912"/>
            <a:ext cx="594360" cy="594360"/>
          </a:xfrm>
          <a:prstGeom prst="ellipse">
            <a:avLst/>
          </a:prstGeom>
          <a:solidFill>
            <a:srgbClr val="F5F7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3977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5"/>
                </a:solidFill>
              </a:rPr>
              <a:t>RESERVADO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02936" y="2423160"/>
            <a:ext cx="1965960" cy="1280160"/>
          </a:xfrm>
          <a:prstGeom prst="roundRect">
            <a:avLst/>
          </a:prstGeom>
          <a:solidFill>
            <a:srgbClr val="242A2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8736" y="2724912"/>
            <a:ext cx="594360" cy="59436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3977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5"/>
                </a:solidFill>
              </a:rPr>
              <a:t>CARGANDO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07224" y="2423160"/>
            <a:ext cx="1965960" cy="1280160"/>
          </a:xfrm>
          <a:prstGeom prst="roundRect">
            <a:avLst/>
          </a:prstGeom>
          <a:solidFill>
            <a:srgbClr val="242A27"/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724912"/>
            <a:ext cx="594360" cy="59436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3977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5"/>
                </a:solidFill>
              </a:rPr>
              <a:t>ATENCIÓN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11512" y="2423160"/>
            <a:ext cx="1965960" cy="1280160"/>
          </a:xfrm>
          <a:prstGeom prst="roundRect">
            <a:avLst/>
          </a:prstGeom>
          <a:solidFill>
            <a:srgbClr val="242A27"/>
          </a:solidFill>
          <a:ln w="25400">
            <a:solidFill>
              <a:srgbClr val="FF5C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97312" y="2724912"/>
            <a:ext cx="594360" cy="594360"/>
          </a:xfrm>
          <a:prstGeom prst="ellipse">
            <a:avLst/>
          </a:prstGeom>
          <a:solidFill>
            <a:srgbClr val="FF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3977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7F5"/>
                </a:solidFill>
              </a:rPr>
              <a:t>NO DISPONIBLE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516636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2BD"/>
                </a:solidFill>
              </a:rPr>
              <a:t>El usuario aprende una sola vez el sistema de estados y lo reconoce en cualquier punto de contacto.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ZONAS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Una señalización que también comunica marca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Cada espacio se nombra por la acción que habilita.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54864" cy="13258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267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670048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vehículo carga. Tu trabajo continúa.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103120"/>
            <a:ext cx="54864" cy="13258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267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PAUSE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4808" y="2670048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pausa también puede ayudarte a avanzar.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03320"/>
            <a:ext cx="54864" cy="13258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67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CONNECT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4270248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energía conecta más que vehículos.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703320"/>
            <a:ext cx="54864" cy="132588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867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COFFEE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4808" y="4270248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Haz que estos minutos valgan la pena.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63D2E"/>
                </a:solidFill>
              </a:rPr>
              <a:t>Ritual de salida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540410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7110D"/>
                </a:solidFill>
              </a:rPr>
              <a:t>SIGUE AVANZANDO  →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FORMATOS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Escalar sin perder la experiencia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La marca es una; el formato responde a demanda, ubicación y capital.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54864" cy="26974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EXPERIENCE 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852928"/>
            <a:ext cx="29260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Formato insignia. Carga rápida, coworking, lounge, hospitality y comunidad.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286000"/>
            <a:ext cx="54864" cy="26974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EVCSE URBAN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6008" y="2852928"/>
            <a:ext cx="29260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Formato compacto para ciudades, hoteles, centros comerciales y oficinas.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228600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286000"/>
            <a:ext cx="54864" cy="26974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7F5"/>
                </a:solidFill>
              </a:rPr>
              <a:t>EVCSE PARTNER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2852928"/>
            <a:ext cx="29260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Red aliada operada bajo estándares EVCSE de marca, tecnología y servicio.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Comunicación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Construir una idea propietaria antes que publicar piezas aisladas.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ESTRATEGIA EDITORIAL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Cinco territorios permanentes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comunicación construye categoría, comunidad y autoridad.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D"/>
                </a:solidFill>
              </a:rPr>
              <a:t>30%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7452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TIEMPO DE VALOR™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1892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Qué cabe dentro de los minutos de carga.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CDB8"/>
                </a:solidFill>
              </a:rPr>
              <a:t>20%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7452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ELECTRIC LIFE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2715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Educación simple sobre movilidad eléctrica.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99E8"/>
                </a:solidFill>
              </a:rPr>
              <a:t>20%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7452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PEOPLE WHO MOVE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3538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Historias de usuarios, aliados y comunidad.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3D2E"/>
                </a:solidFill>
              </a:rPr>
              <a:t>15%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7452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BUILDING EVCSE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43616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Red, operación, ubicaciones y tecnología.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66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110D"/>
                </a:solidFill>
              </a:rPr>
              <a:t>15%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874520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10D"/>
                </a:solidFill>
              </a:rPr>
              <a:t>BETTER PLACES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5184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A27"/>
                </a:solidFill>
              </a:rPr>
              <a:t>Hoteles, comercio, empresas y ciudades.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715000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CAMPAÑA FUNDACIONAL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¿Qué harías con 30 minutos?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La espera deja de ser una limitación y se convierte en una elección.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00FF4D"/>
                </a:solidFill>
              </a:rPr>
              <a:t>30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3182112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F7F5"/>
                </a:solidFill>
              </a:rPr>
              <a:t>MIN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800600" y="224028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Algunos ven una espera.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Nosotros vemos una oportunidad.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28032" y="4160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BD"/>
                </a:solidFill>
              </a:rPr>
              <a:t>Una llamada. Un café. Una pausa. Tú decides.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37176" y="49834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60" dirty="0">
                <a:solidFill>
                  <a:srgbClr val="00FF4D"/>
                </a:solidFill>
              </a:rPr>
              <a:t>EVCSE   |   TIEMPO DE VALOR™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SISTEMA DE CAMPAÑA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Los minutos como activo narrativo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Un código simple, flexible y reconocible.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5420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606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10D"/>
                </a:solidFill>
              </a:rPr>
              <a:t>18 MIN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43584" y="3429000"/>
            <a:ext cx="1371600" cy="1"/>
          </a:xfrm>
          <a:prstGeom prst="line">
            <a:avLst/>
          </a:prstGeom>
          <a:noFill/>
          <a:ln w="38100">
            <a:solidFill>
              <a:srgbClr val="00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8620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Un café.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4773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063D2E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511296" y="2240280"/>
            <a:ext cx="2542032" cy="297180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2606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4D"/>
                </a:solidFill>
              </a:rPr>
              <a:t>24 MIN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096512" y="3429000"/>
            <a:ext cx="137160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388620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Tu vehículo carga. Tú avanzas.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85616" y="4773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B9C2BD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364224" y="2240280"/>
            <a:ext cx="25420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606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110D"/>
                </a:solidFill>
              </a:rPr>
              <a:t>32 MIN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949440" y="3429000"/>
            <a:ext cx="1371600" cy="1"/>
          </a:xfrm>
          <a:prstGeom prst="line">
            <a:avLst/>
          </a:prstGeom>
          <a:noFill/>
          <a:ln w="38100">
            <a:solidFill>
              <a:srgbClr val="00C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388620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Una presentación terminada.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38544" y="4773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063D2E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217152" y="2240280"/>
            <a:ext cx="2542032" cy="297180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606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4D"/>
                </a:solidFill>
              </a:rPr>
              <a:t>41 MIN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802368" y="3429000"/>
            <a:ext cx="137160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73184" y="3886200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La pausa que necesitabas.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91472" y="4773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00" dirty="0">
                <a:solidFill>
                  <a:srgbClr val="B9C2BD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2).jpeg"/>
          <p:cNvPicPr>
            <a:picLocks noChangeAspect="1"/>
          </p:cNvPicPr>
          <p:nvPr/>
        </p:nvPicPr>
        <p:blipFill>
          <a:blip r:embed="rId3"/>
          <a:srcRect l="25983" r="25983"/>
          <a:stretch/>
        </p:blipFill>
        <p:spPr>
          <a:xfrm>
            <a:off x="6629400" y="0"/>
            <a:ext cx="555955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0"/>
            <a:ext cx="555955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8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D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7F5"/>
                </a:solidFill>
              </a:rPr>
              <a:t>Gobierno de marca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9C2BD"/>
                </a:solidFill>
              </a:rPr>
              <a:t>La consistencia convierte decisiones aisladas en un activo empresarial.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" y="4617720"/>
            <a:ext cx="141732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ECOSISTEMA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Una marca madre. Descriptores consistentes.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No crear logos independientes que fragmenten el valor de EVCSE.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514600" cy="10515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31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FF4D"/>
                </a:solidFill>
              </a:rPr>
              <a:t>EXPERIENCE HUB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02152" y="2057400"/>
            <a:ext cx="2514600" cy="10515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2231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85032" y="2587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CDB8"/>
                </a:solidFill>
              </a:rPr>
              <a:t>URBAN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18504" y="2057400"/>
            <a:ext cx="2514600" cy="10515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231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01384" y="2587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499E8"/>
                </a:solidFill>
              </a:rPr>
              <a:t>PARTNER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34856" y="2057400"/>
            <a:ext cx="2514600" cy="10515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2231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17736" y="2587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B547"/>
                </a:solidFill>
              </a:rPr>
              <a:t>MEMBERS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EVCSE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FF4D"/>
                </a:solidFill>
              </a:rPr>
              <a:t>BUSINESS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02152" y="34747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EVCSE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85032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</a:rPr>
              <a:t>FLEET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18504" y="34747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EVCSE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01384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SOLAR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34856" y="347472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EVCSE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17736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CDB8"/>
                </a:solidFill>
              </a:rPr>
              <a:t>INVEST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Regla: EVCSE siempre domina. La unidad describe el negocio, no compite con la marca.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0FF4D"/>
                </a:solidFill>
              </a:rPr>
              <a:t>CONTROL DE CALIDAD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7F5"/>
                </a:solidFill>
              </a:rPr>
              <a:t>La prueba EVCSE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Cinco preguntas antes de aprobar cualquier experiencia o comunicación.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347472" cy="347472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162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9738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7F5"/>
                </a:solidFill>
              </a:rPr>
              <a:t>¿Habla de una persona antes que de la tecnología?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347472" cy="347472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7660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2670048"/>
            <a:ext cx="9738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7F5"/>
                </a:solidFill>
              </a:rPr>
              <a:t>¿Existe un beneficio concreto?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47288"/>
            <a:ext cx="347472" cy="347472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5158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3419856"/>
            <a:ext cx="9738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7F5"/>
                </a:solidFill>
              </a:rPr>
              <a:t>¿EVCSE puede decirlo con mayor autoridad que otra red?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347472" cy="347472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2656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5880" y="4169664"/>
            <a:ext cx="9738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7F5"/>
                </a:solidFill>
              </a:rPr>
              <a:t>¿Refuerza Tiempo de Valor™?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946904"/>
            <a:ext cx="347472" cy="347472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50154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4919472"/>
            <a:ext cx="9738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7F5"/>
                </a:solidFill>
              </a:rPr>
              <a:t>¿Se percibe simple, confiable y útil?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10" dirty="0">
                <a:solidFill>
                  <a:srgbClr val="063D2E"/>
                </a:solidFill>
              </a:rPr>
              <a:t>PLAN DE COMPLETAR EL MANUAL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7110D"/>
                </a:solidFill>
              </a:rPr>
              <a:t>Activos pendientes de producción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A27"/>
                </a:solidFill>
              </a:rPr>
              <a:t>La estructura está lista para recibir archivos maestros y aplicaciones finales.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54864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313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VECTOR MASTER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71576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SVG · AI · EPS · PDF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54864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313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LOGO RULES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271576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Grid · clear space · micro icon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148840"/>
            <a:ext cx="54864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313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DIGITAL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271576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 screens · design tokens · motion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657600"/>
            <a:ext cx="54864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PHYSICAL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" y="422452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Wayfinding · charger · uniforms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657600"/>
            <a:ext cx="54864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COMMUNICATION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81728" y="422452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Templates · OOH · social · decks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6576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3657600"/>
            <a:ext cx="54864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110D"/>
                </a:solidFill>
              </a:rPr>
              <a:t>CO-BRANDING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22452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Partners · locations · endorsement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63D2E"/>
                </a:solidFill>
              </a:rPr>
              <a:t>Documento vivo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5440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10D"/>
                </a:solidFill>
              </a:rPr>
              <a:t>Actualizar solo mediante gobierno de marca y versiones controladas.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7488" r="7488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7110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85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MANIFIESTO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La movilidad eléctrica merece algo más que infraestructura.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788920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9C2BD"/>
                </a:solidFill>
              </a:rPr>
              <a:t>Creemos que el tiempo es uno de los activos más valiosos que tiene una persona. Por eso diseñamos espacios, servicios y tecnología que convierten la espera en oportunidad.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Tu vehículo carga.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Tú avanzas.</a:t>
            </a:r>
            <a:endParaRPr lang="en-US" sz="3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82980"/>
            <a:ext cx="4251960" cy="4251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4520" y="5047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5F7F5"/>
                </a:solidFill>
              </a:rPr>
              <a:t>RECUPEREMOS EL TIEMPO.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840480" y="5806440"/>
            <a:ext cx="452628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77640" y="605332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70" dirty="0">
                <a:solidFill>
                  <a:srgbClr val="B9C2BD"/>
                </a:solidFill>
              </a:rPr>
              <a:t>EVCSE · BRAND SYSTEM 2.0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48</Slides>
  <Notes>48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4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EVCSE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EVCSE Brand System 2.0</dc:title>
  <dc:subject>Manual Maestro de Marca EVCSE 2.0</dc:subject>
  <dc:creator>Jose Mercado</dc:creator>
  <cp:lastModifiedBy>Jose Mercado</cp:lastModifiedBy>
  <cp:revision>2</cp:revision>
  <dcterms:created xsi:type="dcterms:W3CDTF">2026-10-11T20:52:18Z</dcterms:created>
  <dcterms:modified xsi:type="dcterms:W3CDTF">2026-10-11T20:58:07Z</dcterms:modified>
</cp:coreProperties>
</file>