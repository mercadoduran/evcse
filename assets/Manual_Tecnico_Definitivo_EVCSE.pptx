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notesMasterIdLst>
    <p:notesMasterId r:id="rId6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301" r:id="rId29"/>
    <p:sldId id="283" r:id="rId30"/>
    <p:sldId id="284" r:id="rId31"/>
    <p:sldId id="319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299" r:id="rId63"/>
    <p:sldId id="300" r:id="rId64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9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Compilado adaptado a partir de Designer.pdf proporcionado por EVCSE.
- Logotipos y visuales proporcionados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Logotipos proporcionados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Visuales proporcionados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 conceptual generado para EVCSE con Microsoft Copilot.</a:t>
            </a:r>
          </a:p>
          <a:p>
            <a:r>
              <a:t>- Aplicación de marca sujeta a archivos maestros oficiales.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Visuales conceptuales generados para EVCSE con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Visuales conceptuales generados para EVCSE con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Visuales conceptuales generados para EVCSE con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Logotipo proporcionado por EVCSE.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516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976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417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829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433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3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s-MX"/>
              <a:t>Haga clic para modificar los estilos de texto del patrón</a:t>
            </a:r>
          </a:p>
          <a:p>
            <a:pPr marL="228600" lvl="1" indent="-228600"/>
            <a:r>
              <a:rPr lang="es-MX"/>
              <a:t>Segundo nivel</a:t>
            </a:r>
          </a:p>
          <a:p>
            <a:pPr marL="228600" lvl="2" indent="-228600"/>
            <a:r>
              <a:rPr lang="es-MX"/>
              <a:t>Tercer nivel</a:t>
            </a:r>
          </a:p>
          <a:p>
            <a:pPr marL="228600" lvl="3" indent="-228600"/>
            <a:r>
              <a:rPr lang="es-MX"/>
              <a:t>Cuarto nivel</a:t>
            </a:r>
          </a:p>
          <a:p>
            <a:pPr marL="228600" lvl="4" indent="-228600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79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8296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8766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676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7225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16583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8128315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694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388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297011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362471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41668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58593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24557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400810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6264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277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5DE8-BB4A-408C-A60C-374B496D02BA}" type="datetime1">
              <a:rPr lang="en-US" smtClean="0"/>
              <a:t>10/11/26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02478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28741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6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43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02989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"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018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"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2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0C9DF407-AAD9-4F9F-B512-267BEB339CF5}" type="datetime1">
              <a:rPr lang="en-US" smtClean="0"/>
              <a:t>10/11/26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2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1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0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t="7802" b="7802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6775704" y="-477079"/>
            <a:ext cx="12188952" cy="6858000"/>
          </a:xfrm>
          <a:prstGeom prst="rect">
            <a:avLst/>
          </a:prstGeom>
          <a:solidFill>
            <a:srgbClr val="07110D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07110D">
              <a:alpha val="97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5F7F5"/>
                </a:solidFill>
              </a:rPr>
              <a:t>EVCSE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58368" y="1143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80" dirty="0">
                <a:solidFill>
                  <a:srgbClr val="00FF4D"/>
                </a:solidFill>
              </a:rPr>
              <a:t>BRAND STANDARDS 2.5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5F7F5"/>
                </a:solidFill>
              </a:rPr>
              <a:t>Manual técnico definitivo de implementación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58368" y="3657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B9C2BD"/>
                </a:solidFill>
              </a:rPr>
              <a:t>Logo · color · tipografía · digital · espacios · comunicación · gobierno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" y="480060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F5F7F5"/>
                </a:solidFill>
              </a:rPr>
              <a:t>OCTUBRE 2026 · COLOMBIA / LATINOAMÉRICA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USO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Alcance y autoridad del manual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Documento rector para proveedores, equipos internos, aliados y operadores.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50292" cy="22860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OBLIGATORIO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Logo, color, tipografía, accesibilidad y nomenclatura.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331720"/>
            <a:ext cx="50292" cy="22860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APLICABLE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App, web, documentos, señalización, arquitectura y campañas.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383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229600" y="2331720"/>
            <a:ext cx="50292" cy="228600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1248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CONTROLADO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Toda excepción requiere aprobación y registro.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52578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Principio maestro: la consistencia convierte la marca en un activo acumulativo.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CONTENIDO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Arquitectura del estándar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Siete bloques: estrategia, logo, color, sistema visual, digital, físico y gobierno.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01 Fundamentos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862072"/>
            <a:ext cx="210312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502152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02 Logo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02152" y="2862072"/>
            <a:ext cx="2103120" cy="1"/>
          </a:xfrm>
          <a:prstGeom prst="line">
            <a:avLst/>
          </a:prstGeom>
          <a:noFill/>
          <a:ln w="2540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318504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03 Color y tipografía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18504" y="2862072"/>
            <a:ext cx="210312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9134856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5"/>
                </a:solidFill>
              </a:rPr>
              <a:t>04 Sistema visual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34856" y="2862072"/>
            <a:ext cx="2103120" cy="1"/>
          </a:xfrm>
          <a:prstGeom prst="line">
            <a:avLst/>
          </a:prstGeom>
          <a:noFill/>
          <a:ln w="2540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85800" y="3703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C2BD"/>
                </a:solidFill>
              </a:rPr>
              <a:t>05 Digital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4233672"/>
            <a:ext cx="210312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502152" y="3703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C2BD"/>
                </a:solidFill>
              </a:rPr>
              <a:t>06 Espacios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02152" y="4233672"/>
            <a:ext cx="2103120" cy="1"/>
          </a:xfrm>
          <a:prstGeom prst="line">
            <a:avLst/>
          </a:prstGeom>
          <a:noFill/>
          <a:ln w="2540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318504" y="37033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C2BD"/>
                </a:solidFill>
              </a:rPr>
              <a:t>07 Gobierno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18504" y="4233672"/>
            <a:ext cx="2103120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COMPILADO DE MARCA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EVCSE Brand Overview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Vista ejecutiva del sistema visual, verbal y experiencial.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2971800" cy="187452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168" y="1993392"/>
            <a:ext cx="1481328" cy="1481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4015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kern="0" spc="120" dirty="0">
                <a:solidFill>
                  <a:srgbClr val="B9C2BD"/>
                </a:solidFill>
              </a:rPr>
              <a:t>LOGO PRINCIPAL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3840480" y="19019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PALETA OFICIAL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840480" y="2286000"/>
            <a:ext cx="960120" cy="658368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3822192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DEEP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3822192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#07110D</a:t>
            </a:r>
            <a:endParaRPr lang="en-US" sz="500" dirty="0"/>
          </a:p>
        </p:txBody>
      </p:sp>
      <p:sp>
        <p:nvSpPr>
          <p:cNvPr id="12" name="Shape 9"/>
          <p:cNvSpPr/>
          <p:nvPr/>
        </p:nvSpPr>
        <p:spPr>
          <a:xfrm>
            <a:off x="5065776" y="2286000"/>
            <a:ext cx="960120" cy="658368"/>
          </a:xfrm>
          <a:prstGeom prst="roundRect">
            <a:avLst/>
          </a:prstGeom>
          <a:solidFill>
            <a:srgbClr val="00FF4D"/>
          </a:solidFill>
          <a:ln w="127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5047488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ENERGY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5047488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#00FF4D</a:t>
            </a:r>
            <a:endParaRPr lang="en-US" sz="500" dirty="0"/>
          </a:p>
        </p:txBody>
      </p:sp>
      <p:sp>
        <p:nvSpPr>
          <p:cNvPr id="15" name="Shape 12"/>
          <p:cNvSpPr/>
          <p:nvPr/>
        </p:nvSpPr>
        <p:spPr>
          <a:xfrm>
            <a:off x="6291072" y="2286000"/>
            <a:ext cx="960120" cy="658368"/>
          </a:xfrm>
          <a:prstGeom prst="roundRect">
            <a:avLst/>
          </a:prstGeom>
          <a:solidFill>
            <a:srgbClr val="063D2E"/>
          </a:solidFill>
          <a:ln w="1270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6272784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FOREST</a:t>
            </a:r>
            <a:endParaRPr lang="en-US" sz="550" dirty="0"/>
          </a:p>
        </p:txBody>
      </p:sp>
      <p:sp>
        <p:nvSpPr>
          <p:cNvPr id="17" name="Text 14"/>
          <p:cNvSpPr/>
          <p:nvPr/>
        </p:nvSpPr>
        <p:spPr>
          <a:xfrm>
            <a:off x="6272784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#063D2E</a:t>
            </a:r>
            <a:endParaRPr lang="en-US" sz="500" dirty="0"/>
          </a:p>
        </p:txBody>
      </p:sp>
      <p:sp>
        <p:nvSpPr>
          <p:cNvPr id="18" name="Shape 15"/>
          <p:cNvSpPr/>
          <p:nvPr/>
        </p:nvSpPr>
        <p:spPr>
          <a:xfrm>
            <a:off x="7516368" y="2286000"/>
            <a:ext cx="960120" cy="658368"/>
          </a:xfrm>
          <a:prstGeom prst="roundRect">
            <a:avLst/>
          </a:prstGeom>
          <a:solidFill>
            <a:srgbClr val="F5F7F5"/>
          </a:solidFill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7498080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CLOUD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7498080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#F5F7F5</a:t>
            </a:r>
            <a:endParaRPr lang="en-US" sz="500" dirty="0"/>
          </a:p>
        </p:txBody>
      </p:sp>
      <p:sp>
        <p:nvSpPr>
          <p:cNvPr id="21" name="Shape 18"/>
          <p:cNvSpPr/>
          <p:nvPr/>
        </p:nvSpPr>
        <p:spPr>
          <a:xfrm>
            <a:off x="8741664" y="2286000"/>
            <a:ext cx="960120" cy="6583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242A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/>
          <p:nvPr/>
        </p:nvSpPr>
        <p:spPr>
          <a:xfrm>
            <a:off x="8723376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GRAPHITE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8723376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#242A27</a:t>
            </a:r>
            <a:endParaRPr lang="en-US" sz="500" dirty="0"/>
          </a:p>
        </p:txBody>
      </p:sp>
      <p:sp>
        <p:nvSpPr>
          <p:cNvPr id="24" name="Shape 21"/>
          <p:cNvSpPr/>
          <p:nvPr/>
        </p:nvSpPr>
        <p:spPr>
          <a:xfrm>
            <a:off x="9966960" y="2286000"/>
            <a:ext cx="960120" cy="658368"/>
          </a:xfrm>
          <a:prstGeom prst="roundRect">
            <a:avLst/>
          </a:prstGeom>
          <a:solidFill>
            <a:srgbClr val="B9C2BD"/>
          </a:solidFill>
          <a:ln w="12700">
            <a:solidFill>
              <a:srgbClr val="B9C2B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2"/>
          <p:cNvSpPr/>
          <p:nvPr/>
        </p:nvSpPr>
        <p:spPr>
          <a:xfrm>
            <a:off x="9948672" y="3063240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7110D"/>
                </a:solidFill>
              </a:rPr>
              <a:t>SILVER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9948672" y="326440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242A27"/>
                </a:solidFill>
              </a:rPr>
              <a:t>#B9C2BD</a:t>
            </a:r>
            <a:endParaRPr lang="en-US" sz="500" dirty="0"/>
          </a:p>
        </p:txBody>
      </p:sp>
      <p:sp>
        <p:nvSpPr>
          <p:cNvPr id="27" name="Shape 24"/>
          <p:cNvSpPr/>
          <p:nvPr/>
        </p:nvSpPr>
        <p:spPr>
          <a:xfrm>
            <a:off x="594360" y="3977640"/>
            <a:ext cx="2971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5"/>
          <p:cNvSpPr/>
          <p:nvPr/>
        </p:nvSpPr>
        <p:spPr>
          <a:xfrm>
            <a:off x="594360" y="3977640"/>
            <a:ext cx="50292" cy="123444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6"/>
          <p:cNvSpPr/>
          <p:nvPr/>
        </p:nvSpPr>
        <p:spPr>
          <a:xfrm>
            <a:off x="777240" y="4123944"/>
            <a:ext cx="262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TIPOGRAFÍA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777240" y="4489704"/>
            <a:ext cx="2624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Sora: marca y titulares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Inter: interfaz, texto y datos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840480" y="3977640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29"/>
          <p:cNvSpPr/>
          <p:nvPr/>
        </p:nvSpPr>
        <p:spPr>
          <a:xfrm>
            <a:off x="3840480" y="3977640"/>
            <a:ext cx="50292" cy="123444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0"/>
          <p:cNvSpPr/>
          <p:nvPr/>
        </p:nvSpPr>
        <p:spPr>
          <a:xfrm>
            <a:off x="4023360" y="412394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VOZ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4023360" y="4489704"/>
            <a:ext cx="3218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Breve · humana · segura · inteligente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Personas → experiencia → beneficio → tecnología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680960" y="3977640"/>
            <a:ext cx="39136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3"/>
          <p:cNvSpPr/>
          <p:nvPr/>
        </p:nvSpPr>
        <p:spPr>
          <a:xfrm>
            <a:off x="7680960" y="3977640"/>
            <a:ext cx="50292" cy="123444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4"/>
          <p:cNvSpPr/>
          <p:nvPr/>
        </p:nvSpPr>
        <p:spPr>
          <a:xfrm>
            <a:off x="7863840" y="4123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PROMESA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7863840" y="448970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Transformamos el tiempo de carga en tiempo de valor.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Tu vehículo carga. Tú avanzas.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94360" y="5440680"/>
            <a:ext cx="11000232" cy="64008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7"/>
          <p:cNvSpPr/>
          <p:nvPr/>
        </p:nvSpPr>
        <p:spPr>
          <a:xfrm>
            <a:off x="841248" y="56144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00FF4D"/>
                </a:solidFill>
              </a:rPr>
              <a:t>APP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755648" y="5605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F5F7F5"/>
                </a:solidFill>
              </a:rPr>
              <a:t>Reserva · carga · Members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3584448" y="56144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00FF4D"/>
                </a:solidFill>
              </a:rPr>
              <a:t>WEB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4498848" y="5605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F5F7F5"/>
                </a:solidFill>
              </a:rPr>
              <a:t>Experiencia · estaciones · negocio</a:t>
            </a:r>
            <a:endParaRPr lang="en-US" sz="650" dirty="0"/>
          </a:p>
        </p:txBody>
      </p:sp>
      <p:sp>
        <p:nvSpPr>
          <p:cNvPr id="44" name="Text 41"/>
          <p:cNvSpPr/>
          <p:nvPr/>
        </p:nvSpPr>
        <p:spPr>
          <a:xfrm>
            <a:off x="6327648" y="56144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00FF4D"/>
                </a:solidFill>
              </a:rPr>
              <a:t>HUB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7242048" y="5605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F5F7F5"/>
                </a:solidFill>
              </a:rPr>
              <a:t>Wayfinding · Work · Pause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9070848" y="5614416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00FF4D"/>
                </a:solidFill>
              </a:rPr>
              <a:t>COMUNICACIÓN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9985248" y="560527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50" dirty="0">
                <a:solidFill>
                  <a:srgbClr val="F5F7F5"/>
                </a:solidFill>
              </a:rPr>
              <a:t>Tiempo de Valor™</a:t>
            </a:r>
            <a:endParaRPr lang="en-US" sz="65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REGLAS DE USO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Cómo elegir la versión correcta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versión responde al fondo, al tamaño y al método de producción.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2560320" cy="24231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240280"/>
            <a:ext cx="50292" cy="242316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3865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1. ¿FONDO?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752344"/>
            <a:ext cx="221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Oscuro → Hero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Claro → Institucional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3552" y="3429000"/>
            <a:ext cx="201168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511296" y="2240280"/>
            <a:ext cx="2560320" cy="24231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511296" y="2240280"/>
            <a:ext cx="50292" cy="242316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694176" y="23865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2. ¿TAMAÑO?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94176" y="2752344"/>
            <a:ext cx="221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Grande → Logo completo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Pequeño → Isotipo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3429000"/>
            <a:ext cx="201168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6364224" y="2240280"/>
            <a:ext cx="2560320" cy="24231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364224" y="2240280"/>
            <a:ext cx="50292" cy="242316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547104" y="23865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3. ¿PRODUCCIÓN?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47104" y="2752344"/>
            <a:ext cx="221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Digital → Gradiente/flat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Una tinta → Monocromo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79408" y="3429000"/>
            <a:ext cx="201168" cy="1"/>
          </a:xfrm>
          <a:prstGeom prst="line">
            <a:avLst/>
          </a:prstGeom>
          <a:noFill/>
          <a:ln w="25400">
            <a:solidFill>
              <a:srgbClr val="00FF4D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9217152" y="2240280"/>
            <a:ext cx="2560320" cy="242316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9217152" y="2240280"/>
            <a:ext cx="50292" cy="2423160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9400032" y="238658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4. ¿CONTEXTO?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400032" y="2752344"/>
            <a:ext cx="22128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Marca → Sin claim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Campaña → Claim separado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52578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5"/>
                </a:solidFill>
              </a:rPr>
              <a:t>Regla de oro: nunca reconstruir, recolorear o integrar mensajes dentro del archivo de logo.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FONDOS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Contraste y versiones permitidas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Elegir la versión por legibilidad, no por preferencia estética.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560320" cy="233172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481328" y="2514600"/>
            <a:ext cx="914400" cy="914400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7F5"/>
                </a:solidFill>
              </a:rPr>
              <a:t>DEEP / GRAPHITE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2688" y="40050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B9C2BD"/>
                </a:solidFill>
              </a:rPr>
              <a:t>Logo Hero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9C2BD"/>
                </a:solidFill>
              </a:rPr>
              <a:t>Gradiente + Cloud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11296" y="2148840"/>
            <a:ext cx="2560320" cy="2331720"/>
          </a:xfrm>
          <a:prstGeom prst="roundRect">
            <a:avLst/>
          </a:prstGeom>
          <a:solidFill>
            <a:srgbClr val="F5F7F5"/>
          </a:solidFill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334256" y="2514600"/>
            <a:ext cx="914400" cy="914400"/>
          </a:xfrm>
          <a:prstGeom prst="ellipse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94176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0D"/>
                </a:solidFill>
              </a:rPr>
              <a:t>CLOUD / BLANCO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85616" y="40050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Institucional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Gradiente + Deep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364224" y="2148840"/>
            <a:ext cx="2560320" cy="233172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242A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7187184" y="2514600"/>
            <a:ext cx="914400" cy="914400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547104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7F5"/>
                </a:solidFill>
              </a:rPr>
              <a:t>FOTOGRAFÍA OSCURA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38544" y="40050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B9C2BD"/>
                </a:solidFill>
              </a:rPr>
              <a:t>Logo claro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9C2BD"/>
                </a:solidFill>
              </a:rPr>
              <a:t>con área limpia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217152" y="2148840"/>
            <a:ext cx="2560320" cy="2331720"/>
          </a:xfrm>
          <a:prstGeom prst="roundRect">
            <a:avLst/>
          </a:prstGeom>
          <a:solidFill>
            <a:srgbClr val="D8DEDA"/>
          </a:solidFill>
          <a:ln w="12700">
            <a:solidFill>
              <a:srgbClr val="D8DED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10040112" y="2514600"/>
            <a:ext cx="914400" cy="914400"/>
          </a:xfrm>
          <a:prstGeom prst="ellipse">
            <a:avLst/>
          </a:prstGeom>
          <a:solidFill>
            <a:srgbClr val="07110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400032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0D"/>
                </a:solidFill>
              </a:rPr>
              <a:t>UNA TINTA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491472" y="40050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Monocromo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Deep o Cloud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" y="51663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10D"/>
                </a:solidFill>
              </a:rPr>
              <a:t>No usar el gradiente sobre fondos con bajo contraste o colores que compitan con el isotipo.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JERARQUÍA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Logo, descriptor y claim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firma identifica. El descriptor clasifica. El claim comunica.</a:t>
            </a:r>
            <a:endParaRPr lang="en-US" sz="1250" dirty="0"/>
          </a:p>
        </p:txBody>
      </p:sp>
      <p:pic>
        <p:nvPicPr>
          <p:cNvPr id="5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57400"/>
            <a:ext cx="329184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0" y="1965960"/>
            <a:ext cx="6263640" cy="74980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4572000" y="1965960"/>
            <a:ext cx="50292" cy="74980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4754880" y="2112264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LOGO MAESTRO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754880" y="2478024"/>
            <a:ext cx="5916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Isotipo + EVCSE. Uso preferente.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0" y="2898648"/>
            <a:ext cx="6263640" cy="74980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4572000" y="2898648"/>
            <a:ext cx="50292" cy="74980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4754880" y="3044952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DESCRIPTOR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754880" y="3410712"/>
            <a:ext cx="5916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EXPERIENCE NETWORK. Solo cuando se necesite contexto.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0" y="3831336"/>
            <a:ext cx="6263640" cy="74980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4572000" y="3831336"/>
            <a:ext cx="50292" cy="74980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4754880" y="3977640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CLAIM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754880" y="4343400"/>
            <a:ext cx="5916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“Tu vehículo carga. Tú avanzas.” Siempre separado del logo.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0" y="4764024"/>
            <a:ext cx="6263640" cy="74980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4572000" y="4764024"/>
            <a:ext cx="50292" cy="749808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4754880" y="4910328"/>
            <a:ext cx="5916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SUBMARCAS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754880" y="5276088"/>
            <a:ext cx="5916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EVCSE domina; la unidad funciona como descriptor.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0" y="5715000"/>
            <a:ext cx="6263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5F7F5"/>
                </a:solidFill>
              </a:rPr>
              <a:t>El descriptor nunca debe competir con EVCSE. El claim nunca forma parte permanente del lockup.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CONTROL DE LOGO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Checklist antes de publicar o fabricar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Una verificación de 30 segundos evita la mayoría de deformaciones de marca.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" y="189280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Archivo maestro autorizado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6208" y="189280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675120" y="1874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Versión adecuada al fondo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262432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188720" y="26060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Área de seguridad respetada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262432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0" y="260604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Tamaño mínimo cumplido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9808" y="335584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188720" y="33375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Contraste suficiente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6208" y="335584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675120" y="33375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Sin sombras, glow o 3D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408736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188720" y="40690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Sin alterar proporciones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408736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675120" y="40690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Claim separado del logo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Si una respuesta es “no”, la aplicación no está lista para liberación.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l="22004" r="22004"/>
          <a:stretch/>
        </p:blipFill>
        <p:spPr>
          <a:xfrm>
            <a:off x="6720840" y="0"/>
            <a:ext cx="546811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Fundamentos de marca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La carga habilita. La experiencia diferencia. El tiempo es el territorio.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NÚCLEO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Arquitectura conceptual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Cada expresión cumple una función definida.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MARCA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331720" y="184708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EVCSE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76856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31520" y="25328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CATEGORÍA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31720" y="250545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Experience Network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2935224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731520" y="31912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DEFINICIÓN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31720" y="316382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Energy Experience Platform™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593592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31520" y="38496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TERRITORIO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31720" y="38221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7110D"/>
                </a:solidFill>
              </a:rPr>
              <a:t>Tiempo de Valor™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251960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31520" y="45079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PROMESA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31720" y="44805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7110D"/>
                </a:solidFill>
              </a:rPr>
              <a:t>Transformamos el tiempo de carga en tiempo de valor.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4910328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31520" y="5166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 dirty="0">
                <a:solidFill>
                  <a:srgbClr val="063D2E"/>
                </a:solidFill>
              </a:rPr>
              <a:t>PLATAFORMA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331720" y="5138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7110D"/>
                </a:solidFill>
              </a:rPr>
              <a:t>Tu vehículo carga. Tú avanzas.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5568696"/>
            <a:ext cx="103784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PERSONALIDAD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Premium útil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calidad se demuestra funcionando bien, no aparentando lujo.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3383280" cy="233172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50292" cy="233172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SOMOS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843784"/>
            <a:ext cx="30358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Humanos · precisos · confiables · cercanos · contemporáneos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383280" cy="233172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331720"/>
            <a:ext cx="50292" cy="233172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NUNCA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843784"/>
            <a:ext cx="30358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Estridentes · fríos · industriales · pretenciosos · técnicos primero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383280" cy="233172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229600" y="2331720"/>
            <a:ext cx="50292" cy="233172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1248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PRINCIPIO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2843784"/>
            <a:ext cx="30358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Personas → experiencia → beneficio → tecnología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Designer (11).png"/>
          <p:cNvPicPr>
            <a:picLocks noChangeAspect="1"/>
          </p:cNvPicPr>
          <p:nvPr/>
        </p:nvPicPr>
        <p:blipFill>
          <a:blip r:embed="rId3"/>
          <a:srcRect l="8006" r="8006"/>
          <a:stretch/>
        </p:blipFill>
        <p:spPr>
          <a:xfrm>
            <a:off x="6720840" y="0"/>
            <a:ext cx="546811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02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Sistema de logo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Una geometría para conexión, energía, continuidad y avance.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ANATOMÍA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El símbolo EVCSE 2.0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La E abstracta conecta energía y movimiento.</a:t>
            </a:r>
            <a:endParaRPr lang="en-US" sz="1250" dirty="0"/>
          </a:p>
        </p:txBody>
      </p:sp>
      <p:pic>
        <p:nvPicPr>
          <p:cNvPr id="5" name="Image 0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874520"/>
            <a:ext cx="4069080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257800" y="1874520"/>
            <a:ext cx="5577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5257800" y="1874520"/>
            <a:ext cx="50292" cy="74980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5440680" y="2020824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CÍRCULO ABIERTO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40680" y="2386584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Continuidad y avance.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257800" y="2807208"/>
            <a:ext cx="5577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5257800" y="2807208"/>
            <a:ext cx="50292" cy="74980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5440680" y="2953512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TRAZO INTERIOR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40680" y="3319272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Conexión activa.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257800" y="3739896"/>
            <a:ext cx="5577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5257800" y="3739896"/>
            <a:ext cx="50292" cy="74980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5440680" y="3886200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 ABSTRACTA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40680" y="4251960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Energy · Experience · Ecosystem.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257800" y="4672584"/>
            <a:ext cx="55778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5257800" y="4672584"/>
            <a:ext cx="50292" cy="749808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5440680" y="4818888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APERTURA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440680" y="5184648"/>
            <a:ext cx="5230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La carga no detiene el recorrido.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VERSIONES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Configuraciones autorizadas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geometría nunca cambia; el contexto define la versión.</a:t>
            </a:r>
            <a:endParaRPr lang="en-US" sz="1250" dirty="0"/>
          </a:p>
        </p:txBody>
      </p:sp>
      <p:pic>
        <p:nvPicPr>
          <p:cNvPr id="5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48840"/>
            <a:ext cx="3246120" cy="3246120"/>
          </a:xfrm>
          <a:prstGeom prst="rect">
            <a:avLst/>
          </a:prstGeom>
        </p:spPr>
      </p:pic>
      <p:pic>
        <p:nvPicPr>
          <p:cNvPr id="6" name="Image 1" descr="/mnt/data/Designer (12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148840"/>
            <a:ext cx="3246120" cy="3246120"/>
          </a:xfrm>
          <a:prstGeom prst="rect">
            <a:avLst/>
          </a:prstGeom>
        </p:spPr>
      </p:pic>
      <p:pic>
        <p:nvPicPr>
          <p:cNvPr id="7" name="Image 2" descr="/mnt/data/Designer (13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446020"/>
            <a:ext cx="2560320" cy="2560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5577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9C2BD"/>
                </a:solidFill>
              </a:rPr>
              <a:t>Hero oscuro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4937760" y="5577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9C2BD"/>
                </a:solidFill>
              </a:rPr>
              <a:t>Institucional claro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8823960" y="55778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B9C2BD"/>
                </a:solidFill>
              </a:rPr>
              <a:t>Isotipo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PRODUCCIÓN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Matriz de versiones autorizadas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Usar archivos maestros. Nunca redibujar ni reconstruir el wordmark.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P-01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Hero oscuro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3320" y="1874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Gradiente + Cloud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63640" y="18745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Digital · fachada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6771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P-02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54480" y="2514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Institucional claro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03320" y="2514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Gradiente + Deep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25146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Documentos · Business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90779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31520" y="315468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P-03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54480" y="31546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Flat oscuro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03320" y="3154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Energy Green + Cloud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31546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UI · señal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4787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31520" y="37947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M-01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54480" y="3794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Monocromo oscuro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03320" y="3794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Deep 100%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7947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Grabado · una tinta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18795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31520" y="44348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M-02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54480" y="44348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Monocromo claro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03320" y="4434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Cloud 100%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44348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Fondo oscuro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82803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731520" y="50749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3D2E"/>
                </a:solidFill>
              </a:rPr>
              <a:t>I-01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54480" y="5074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110D"/>
                </a:solidFill>
              </a:rPr>
              <a:t>Isotipo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03320" y="5074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Gradiente / flat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50749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42A27"/>
                </a:solidFill>
              </a:rPr>
              <a:t>App · favicon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5468112"/>
            <a:ext cx="1033272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822960" y="574243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7110D"/>
                </a:solidFill>
              </a:rPr>
              <a:t>EVCSE_[versión]_[color]_[orientación]_[fecha].ext</a:t>
            </a:r>
            <a:endParaRPr lang="en-US" sz="12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PROTECCIÓN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Área de seguridad y tamaño mínimo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Valores operativos hasta sustituirlos por medidas del vector maestro.</a:t>
            </a:r>
            <a:endParaRPr lang="en-US" sz="1250" dirty="0"/>
          </a:p>
        </p:txBody>
      </p:sp>
      <p:pic>
        <p:nvPicPr>
          <p:cNvPr id="5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011680"/>
            <a:ext cx="352044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920240"/>
            <a:ext cx="4343400" cy="370332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5715000" y="2194560"/>
            <a:ext cx="2468880" cy="13716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5715000" y="2194560"/>
            <a:ext cx="50292" cy="13716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5897880" y="234086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DIGITAL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897880" y="2706624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Isotipo ≥ 24 px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Logo ≥ 96 px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503920" y="2194560"/>
            <a:ext cx="2468880" cy="13716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8503920" y="2194560"/>
            <a:ext cx="50292" cy="13716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8686800" y="234086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IMPRESO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686800" y="2706624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Isotipo ≥ 10 mm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Logo ≥ 32 mm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0" y="416052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9C2BD"/>
                </a:solidFill>
              </a:rPr>
              <a:t>Área X: mínimo una terminación del isotipo alrededor de toda la firma.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RESPONSIVO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Una firma adecuada para cada escala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No reducir el logo completo cuando el contexto exige simplificación.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331720"/>
            <a:ext cx="50292" cy="224028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478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≥ 320 px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843784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Logo + descriptor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11296" y="23317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511296" y="2331720"/>
            <a:ext cx="50292" cy="224028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94176" y="2478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160–319 px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94176" y="2843784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Logo sin descriptor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64224" y="23317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364224" y="2331720"/>
            <a:ext cx="50292" cy="224028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547104" y="2478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32–159 px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47104" y="2843784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Isotipo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17152" y="2331720"/>
            <a:ext cx="25603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9217152" y="2331720"/>
            <a:ext cx="50292" cy="2240280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400032" y="247802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16–31 px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400032" y="2843784"/>
            <a:ext cx="221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Microicono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51663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10D"/>
                </a:solidFill>
              </a:rPr>
              <a:t>Validar siempre la legibilidad en el soporte real.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INTEGRIDAD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Usos prohibidos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Cada regla se demuestra visualmente. Las muestras siguientes nunca deben reproducirse.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3504" y="20574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13232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493008" y="20574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02736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382512" y="20574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492240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272016" y="20574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9381744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3504" y="38862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13232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493008" y="38862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602736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382512" y="38862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49224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272016" y="3886200"/>
            <a:ext cx="2651760" cy="15727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5A2B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9381744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C5C"/>
                </a:solidFill>
              </a:rPr>
              <a:t>×</a:t>
            </a:r>
            <a:endParaRPr lang="en-US" sz="1700" dirty="0"/>
          </a:p>
        </p:txBody>
      </p:sp>
      <p:pic>
        <p:nvPicPr>
          <p:cNvPr id="21" name="Image 0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286000"/>
            <a:ext cx="1554480" cy="5029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23544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DISTORSIONAR</a:t>
            </a:r>
            <a:endParaRPr lang="en-US" sz="750" dirty="0"/>
          </a:p>
        </p:txBody>
      </p:sp>
      <p:pic>
        <p:nvPicPr>
          <p:cNvPr id="23" name="Image 1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80000">
            <a:off x="4389120" y="2240280"/>
            <a:ext cx="868680" cy="8686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813048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ROTAR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7315200" y="2286000"/>
            <a:ext cx="804672" cy="804672"/>
          </a:xfrm>
          <a:prstGeom prst="ellipse">
            <a:avLst/>
          </a:prstGeom>
          <a:solidFill>
            <a:srgbClr val="FF2A9D"/>
          </a:solidFill>
          <a:ln w="12700">
            <a:solidFill>
              <a:srgbClr val="FF2A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2"/>
          <p:cNvSpPr/>
          <p:nvPr/>
        </p:nvSpPr>
        <p:spPr>
          <a:xfrm>
            <a:off x="7543800" y="247802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E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6702552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RECOLOREAR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9957816" y="2039112"/>
            <a:ext cx="1325880" cy="1325880"/>
          </a:xfrm>
          <a:prstGeom prst="ellipse">
            <a:avLst/>
          </a:prstGeom>
          <a:solidFill>
            <a:srgbClr val="00FF4D">
              <a:alpha val="3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29" name="Image 2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4" y="2286000"/>
            <a:ext cx="822960" cy="8229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592056" y="325526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AÑADIR GLOW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1627632" y="4233672"/>
            <a:ext cx="868680" cy="868680"/>
          </a:xfrm>
          <a:prstGeom prst="ellipse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2" name="Image 3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752" y="4069080"/>
            <a:ext cx="868680" cy="8686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77824" y="50840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NO AÑADIR SOMBRAS</a:t>
            </a:r>
            <a:endParaRPr lang="en-US" sz="750" dirty="0"/>
          </a:p>
        </p:txBody>
      </p:sp>
      <p:pic>
        <p:nvPicPr>
          <p:cNvPr id="34" name="Image 4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48" y="4160520"/>
            <a:ext cx="713232" cy="7132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453128" y="43251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5F7F5"/>
                </a:solidFill>
                <a:latin typeface="Liberation Serif" pitchFamily="34" charset="0"/>
                <a:ea typeface="Liberation Serif" pitchFamily="34" charset="-122"/>
                <a:cs typeface="Liberation Serif" pitchFamily="34" charset="-120"/>
              </a:rPr>
              <a:t>EVCSE</a:t>
            </a:r>
            <a:endParaRPr lang="en-US" sz="1800" dirty="0"/>
          </a:p>
        </p:txBody>
      </p:sp>
      <p:sp>
        <p:nvSpPr>
          <p:cNvPr id="36" name="Text 29"/>
          <p:cNvSpPr/>
          <p:nvPr/>
        </p:nvSpPr>
        <p:spPr>
          <a:xfrm>
            <a:off x="3721608" y="50840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5F7F5"/>
                </a:solidFill>
              </a:rPr>
              <a:t>NO CAMBIAR WORDMARK</a:t>
            </a:r>
            <a:endParaRPr lang="en-US" sz="730" dirty="0"/>
          </a:p>
        </p:txBody>
      </p:sp>
      <p:sp>
        <p:nvSpPr>
          <p:cNvPr id="37" name="Shape 30"/>
          <p:cNvSpPr/>
          <p:nvPr/>
        </p:nvSpPr>
        <p:spPr>
          <a:xfrm>
            <a:off x="6793992" y="4069080"/>
            <a:ext cx="1828800" cy="914400"/>
          </a:xfrm>
          <a:prstGeom prst="rect">
            <a:avLst/>
          </a:prstGeom>
          <a:solidFill>
            <a:srgbClr val="4A565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8" name="Image 5" descr="/mnt/data/Designer (13)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296912" y="4133088"/>
            <a:ext cx="786384" cy="7863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611112" y="50840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5F7F5"/>
                </a:solidFill>
              </a:rPr>
              <a:t>NO USAR SIN CONTRASTE</a:t>
            </a:r>
            <a:endParaRPr lang="en-US" sz="720" dirty="0"/>
          </a:p>
        </p:txBody>
      </p:sp>
      <p:pic>
        <p:nvPicPr>
          <p:cNvPr id="40" name="Image 6" descr="/mnt/data/Designer (1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056" y="4114800"/>
            <a:ext cx="713232" cy="71323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0186416" y="41970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5"/>
                </a:solidFill>
              </a:rPr>
              <a:t>EVCSE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10186416" y="45262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00FF4D"/>
                </a:solidFill>
              </a:rPr>
              <a:t>TU VEHÍCULO CARGA. TÚ AVANZAS.</a:t>
            </a:r>
            <a:endParaRPr lang="en-US" sz="550" dirty="0"/>
          </a:p>
        </p:txBody>
      </p:sp>
      <p:sp>
        <p:nvSpPr>
          <p:cNvPr id="43" name="Text 34"/>
          <p:cNvSpPr/>
          <p:nvPr/>
        </p:nvSpPr>
        <p:spPr>
          <a:xfrm>
            <a:off x="9546336" y="508406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5F7F5"/>
                </a:solidFill>
              </a:rPr>
              <a:t>NO INTEGRAR EL CLAIM</a:t>
            </a:r>
            <a:endParaRPr lang="en-US" sz="740" dirty="0"/>
          </a:p>
        </p:txBody>
      </p:sp>
      <p:sp>
        <p:nvSpPr>
          <p:cNvPr id="44" name="Text 35"/>
          <p:cNvSpPr/>
          <p:nvPr/>
        </p:nvSpPr>
        <p:spPr>
          <a:xfrm>
            <a:off x="777240" y="58064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9C2BD"/>
                </a:solidFill>
              </a:rPr>
              <a:t>Usar exclusivamente las versiones maestras y mantener el claim como elemento independiente.</a:t>
            </a:r>
            <a:endParaRPr lang="en-US" sz="12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.jpeg"/>
          <p:cNvPicPr>
            <a:picLocks noChangeAspect="1"/>
          </p:cNvPicPr>
          <p:nvPr/>
        </p:nvPicPr>
        <p:blipFill>
          <a:blip r:embed="rId3"/>
          <a:srcRect l="5219" r="5219"/>
          <a:stretch/>
        </p:blipFill>
        <p:spPr>
          <a:xfrm>
            <a:off x="6720840" y="0"/>
            <a:ext cx="546811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03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Color y tipografía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Un sistema preciso para energía, confianza, humanidad y tecnología.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COLOR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Paleta oficial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Cada color cumple una función semántica.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1572768" cy="146304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58368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DEEP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#07110D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Confianza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2148840"/>
            <a:ext cx="1572768" cy="1463040"/>
          </a:xfrm>
          <a:prstGeom prst="roundRect">
            <a:avLst/>
          </a:prstGeom>
          <a:solidFill>
            <a:srgbClr val="00FF4D"/>
          </a:solidFill>
          <a:ln w="127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560320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ENERGY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0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#00FF4D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60320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Acción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62272" y="2148840"/>
            <a:ext cx="1572768" cy="1463040"/>
          </a:xfrm>
          <a:prstGeom prst="roundRect">
            <a:avLst/>
          </a:prstGeom>
          <a:solidFill>
            <a:srgbClr val="063D2E"/>
          </a:solidFill>
          <a:ln w="1270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462272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FOREST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462272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#063D2E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62272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Institución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64224" y="2148840"/>
            <a:ext cx="1572768" cy="1463040"/>
          </a:xfrm>
          <a:prstGeom prst="roundRect">
            <a:avLst/>
          </a:prstGeom>
          <a:solidFill>
            <a:srgbClr val="F5F7F5"/>
          </a:solidFill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364224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CLOUD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364224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#F5F7F5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64224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Humanidad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66176" y="2148840"/>
            <a:ext cx="1572768" cy="146304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242A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8266176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GRAPHITE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266176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#242A27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66176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Superficie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168128" y="2148840"/>
            <a:ext cx="1572768" cy="1463040"/>
          </a:xfrm>
          <a:prstGeom prst="roundRect">
            <a:avLst/>
          </a:prstGeom>
          <a:solidFill>
            <a:srgbClr val="B9C2BD"/>
          </a:solidFill>
          <a:ln w="12700">
            <a:solidFill>
              <a:srgbClr val="B9C2B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0168128" y="382219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10D"/>
                </a:solidFill>
              </a:rPr>
              <a:t>SILVER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168128" y="41879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42A27"/>
                </a:solidFill>
              </a:rPr>
              <a:t>#B9C2BD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168128" y="452628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63D2E"/>
                </a:solidFill>
              </a:rPr>
              <a:t>Información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724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El verde no decora. El verde significa que algo está sucediendo.</a:t>
            </a:r>
            <a:endParaRPr lang="en-US" sz="17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GESTIÓN DE COLOR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Valores por medio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CMYK es aproximado. La producción física requiere prueba y perfil ICC.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0FF4D"/>
                </a:solidFill>
              </a:rPr>
              <a:t>COLOR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0FF4D"/>
                </a:solidFill>
              </a:rPr>
              <a:t>HEX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0FF4D"/>
                </a:solidFill>
              </a:rPr>
              <a:t>RGB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40" dirty="0">
                <a:solidFill>
                  <a:srgbClr val="00FF4D"/>
                </a:solidFill>
              </a:rPr>
              <a:t>CMYK APROX.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EVCSE Deep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242316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#07110D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242316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7,17,13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0" y="242316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59,0,24,93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94436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Energy Green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29443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#00FF4D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294436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0,255,77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294436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100,0,70,0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46557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EVCSE Forest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0" y="346557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#063D2E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346557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6,61,46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346557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90,0,25,76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98678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EVCSE Cloud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398678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#F5F7F5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3986784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245,247,245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398678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1,0,1,3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50799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Graphite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0" y="450799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#242A27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450799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36,42,39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450799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14,0,7,84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502920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F7F5"/>
                </a:solidFill>
              </a:rPr>
              <a:t>Silver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0" y="502920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#B9C2BD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502920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185,194,189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502920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2BD"/>
                </a:solidFill>
              </a:rPr>
              <a:t>5,0,3,24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57150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7F5"/>
                </a:solidFill>
              </a:rPr>
              <a:t>Acabados: mate o satinado. Evitar brillo excesivo sobre superficies Deep.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ACCESIBILIDAD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Contraste y estados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El color nunca es el único portador de información.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Cloud / Deep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Texto principal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Deep / Cloud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Modo claro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302752" y="21488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8563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Energy / Deep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85632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Acción y señal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58368" y="35204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1248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Energy / Cloud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No usar en texto pequeño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480560" y="35204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663440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Estados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Color + texto + icono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8302752" y="35204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485632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Objetivo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85632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WCAG 2.2 AA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TIPOGRAFÍA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Sora + Inter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Marca y producto comparten una jerarquía clara.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Display XL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0" y="1874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Bold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0" y="18745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48–64 pt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258568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31520" y="24048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H1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0" y="24048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Bold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0" y="24048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32–40 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788920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31520" y="29352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H2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0" y="29352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Semibold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0" y="29352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24–30 pt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319272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31520" y="3465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H3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0" y="34655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Medium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0" y="34655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18–22 pt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849624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731520" y="39959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Body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0" y="39959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Inter Regular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0" y="3995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10–16 pt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4379976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F7F5"/>
                </a:solidFill>
              </a:rPr>
              <a:t>Label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743200" y="45262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Inter Medium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0" y="45262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8–12 pt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" y="4910328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731520" y="50566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FF4D"/>
                </a:solidFill>
              </a:rPr>
              <a:t>Numerical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0" y="50566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Sora Bold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0" y="50566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32–72 pt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1520" y="5440680"/>
            <a:ext cx="9601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731520" y="57607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5"/>
                </a:solidFill>
              </a:rPr>
              <a:t>Interlineado: títulos 100–110% · cuerpo 135–150% · interfaz 120–140%.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Sistema visual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Códigos reconocibles incluso cuando el logo no aparece.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CÓDIGOS PROPIETARIOS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Energy Line + Value Clock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La energía continúa; los minutos se convierten en oportunidades.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39252" y="2532888"/>
            <a:ext cx="2560320" cy="2011680"/>
          </a:xfrm>
          <a:prstGeom prst="arc">
            <a:avLst>
              <a:gd name="adj1" fmla="val 16200000"/>
              <a:gd name="adj2" fmla="val 21507108"/>
            </a:avLst>
          </a:prstGeom>
          <a:solidFill>
            <a:srgbClr val="000000">
              <a:alpha val="0"/>
            </a:srgbClr>
          </a:solidFill>
          <a:ln w="1016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1440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ENERGY LINE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743700" y="2327673"/>
            <a:ext cx="2240280" cy="2084832"/>
          </a:xfrm>
          <a:prstGeom prst="ellipse">
            <a:avLst/>
          </a:prstGeom>
          <a:solidFill>
            <a:srgbClr val="000000">
              <a:alpha val="0"/>
            </a:srgbClr>
          </a:solidFill>
          <a:ln w="177800">
            <a:solidFill>
              <a:srgbClr val="D5DD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903720" y="272491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7110D"/>
                </a:solidFill>
              </a:rPr>
              <a:t>24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995160" y="3401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110D"/>
                </a:solidFill>
              </a:rPr>
              <a:t>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10D"/>
                </a:solidFill>
              </a:rPr>
              <a:t>VALUE CLOCK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COMPOSICIÓN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Grid y espaciado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El grid decide dónde va cada elemento. El spacing define cuánto aire dejamos entre ellos.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9659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00FF4D"/>
                </a:solidFill>
              </a:rPr>
              <a:t>MOBILE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984248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C2BD"/>
                </a:solidFill>
              </a:rPr>
              <a:t>4 columnas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2304288"/>
            <a:ext cx="2880360" cy="1325880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22960" y="2487168"/>
            <a:ext cx="582930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479042" y="2487168"/>
            <a:ext cx="582930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135124" y="2487168"/>
            <a:ext cx="582930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91206" y="2487168"/>
            <a:ext cx="582930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58368" y="376732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Margen 16–24 px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931920" y="19659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00FF4D"/>
                </a:solidFill>
              </a:rPr>
              <a:t>TABLET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57800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C2BD"/>
                </a:solidFill>
              </a:rPr>
              <a:t>8 columnas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31920" y="2304288"/>
            <a:ext cx="2880360" cy="1325880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096512" y="2487168"/>
            <a:ext cx="254889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424553" y="2487168"/>
            <a:ext cx="254889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752594" y="2487168"/>
            <a:ext cx="254889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5080635" y="2487168"/>
            <a:ext cx="254889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5408676" y="2487168"/>
            <a:ext cx="254889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5736717" y="2487168"/>
            <a:ext cx="254889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6064758" y="2487168"/>
            <a:ext cx="254889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6392799" y="2487168"/>
            <a:ext cx="254889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931920" y="376732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Margen 32–48 px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205472" y="19659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00FF4D"/>
                </a:solidFill>
              </a:rPr>
              <a:t>DESKTOP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31352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9C2BD"/>
                </a:solidFill>
              </a:rPr>
              <a:t>12 columnas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205472" y="2304288"/>
            <a:ext cx="4297680" cy="1325880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7370064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7706868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8043672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8380476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8717280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9054084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9390888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9727692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10064496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10401300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10738104" y="2487168"/>
            <a:ext cx="263652" cy="960120"/>
          </a:xfrm>
          <a:prstGeom prst="rect">
            <a:avLst/>
          </a:prstGeom>
          <a:solidFill>
            <a:srgbClr val="314039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11074908" y="2487168"/>
            <a:ext cx="263652" cy="960120"/>
          </a:xfrm>
          <a:prstGeom prst="rect">
            <a:avLst/>
          </a:prstGeom>
          <a:solidFill>
            <a:srgbClr val="26342E"/>
          </a:solidFill>
          <a:ln w="5080">
            <a:solidFill>
              <a:srgbClr val="47564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7205472" y="376732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7F5"/>
                </a:solidFill>
              </a:rPr>
              <a:t>Margen 48–80 px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58368" y="4160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10" dirty="0">
                <a:solidFill>
                  <a:srgbClr val="00FF4D"/>
                </a:solidFill>
              </a:rPr>
              <a:t>COMPOSICIONES DESKTOP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58368" y="4462272"/>
            <a:ext cx="3429000" cy="658368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Shape 41"/>
          <p:cNvSpPr/>
          <p:nvPr/>
        </p:nvSpPr>
        <p:spPr>
          <a:xfrm>
            <a:off x="777240" y="4590288"/>
            <a:ext cx="1540764" cy="384048"/>
          </a:xfrm>
          <a:prstGeom prst="rect">
            <a:avLst/>
          </a:prstGeom>
          <a:solidFill>
            <a:srgbClr val="00FF4D">
              <a:alpha val="65000"/>
            </a:srgbClr>
          </a:solidFill>
          <a:ln w="762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2400300" y="4590288"/>
            <a:ext cx="1540764" cy="384048"/>
          </a:xfrm>
          <a:prstGeom prst="rect">
            <a:avLst/>
          </a:prstGeom>
          <a:solidFill>
            <a:srgbClr val="00CDB8">
              <a:alpha val="65000"/>
            </a:srgbClr>
          </a:solidFill>
          <a:ln w="762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658368" y="518464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5"/>
                </a:solidFill>
              </a:rPr>
              <a:t>6 + 6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453128" y="4462272"/>
            <a:ext cx="3429000" cy="658368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Shape 45"/>
          <p:cNvSpPr/>
          <p:nvPr/>
        </p:nvSpPr>
        <p:spPr>
          <a:xfrm>
            <a:off x="4572000" y="4590288"/>
            <a:ext cx="1008888" cy="384048"/>
          </a:xfrm>
          <a:prstGeom prst="rect">
            <a:avLst/>
          </a:prstGeom>
          <a:solidFill>
            <a:srgbClr val="00FF4D">
              <a:alpha val="65000"/>
            </a:srgbClr>
          </a:solidFill>
          <a:ln w="762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Shape 46"/>
          <p:cNvSpPr/>
          <p:nvPr/>
        </p:nvSpPr>
        <p:spPr>
          <a:xfrm>
            <a:off x="5663184" y="4590288"/>
            <a:ext cx="1008888" cy="384048"/>
          </a:xfrm>
          <a:prstGeom prst="rect">
            <a:avLst/>
          </a:prstGeom>
          <a:solidFill>
            <a:srgbClr val="00CDB8">
              <a:alpha val="65000"/>
            </a:srgbClr>
          </a:solidFill>
          <a:ln w="762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Shape 47"/>
          <p:cNvSpPr/>
          <p:nvPr/>
        </p:nvSpPr>
        <p:spPr>
          <a:xfrm>
            <a:off x="6754368" y="4590288"/>
            <a:ext cx="1008888" cy="384048"/>
          </a:xfrm>
          <a:prstGeom prst="rect">
            <a:avLst/>
          </a:prstGeom>
          <a:solidFill>
            <a:srgbClr val="1499E8">
              <a:alpha val="65000"/>
            </a:srgbClr>
          </a:solidFill>
          <a:ln w="7620">
            <a:solidFill>
              <a:srgbClr val="1499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Text 48"/>
          <p:cNvSpPr/>
          <p:nvPr/>
        </p:nvSpPr>
        <p:spPr>
          <a:xfrm>
            <a:off x="4453128" y="518464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5"/>
                </a:solidFill>
              </a:rPr>
              <a:t>4 + 4 + 4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247888" y="4462272"/>
            <a:ext cx="3429000" cy="658368"/>
          </a:xfrm>
          <a:prstGeom prst="roundRect">
            <a:avLst/>
          </a:prstGeom>
          <a:solidFill>
            <a:srgbClr val="13201A"/>
          </a:solidFill>
          <a:ln w="12700">
            <a:solidFill>
              <a:srgbClr val="3B4A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Shape 50"/>
          <p:cNvSpPr/>
          <p:nvPr/>
        </p:nvSpPr>
        <p:spPr>
          <a:xfrm>
            <a:off x="8366760" y="4590288"/>
            <a:ext cx="1008888" cy="384048"/>
          </a:xfrm>
          <a:prstGeom prst="rect">
            <a:avLst/>
          </a:prstGeom>
          <a:solidFill>
            <a:srgbClr val="00FF4D">
              <a:alpha val="65000"/>
            </a:srgbClr>
          </a:solidFill>
          <a:ln w="762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Shape 51"/>
          <p:cNvSpPr/>
          <p:nvPr/>
        </p:nvSpPr>
        <p:spPr>
          <a:xfrm>
            <a:off x="9457944" y="4590288"/>
            <a:ext cx="2072640" cy="384048"/>
          </a:xfrm>
          <a:prstGeom prst="rect">
            <a:avLst/>
          </a:prstGeom>
          <a:solidFill>
            <a:srgbClr val="00CDB8">
              <a:alpha val="65000"/>
            </a:srgbClr>
          </a:solidFill>
          <a:ln w="7620">
            <a:solidFill>
              <a:srgbClr val="00CDB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8247888" y="518464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F7F5"/>
                </a:solidFill>
              </a:rPr>
              <a:t>4 + 8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58368" y="55778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00FF4D"/>
                </a:solidFill>
              </a:rPr>
              <a:t>ESCALA DE ESPACIADO · UNIDAD BASE 8 PX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160520" y="5559552"/>
            <a:ext cx="130683" cy="219456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Text 55"/>
          <p:cNvSpPr/>
          <p:nvPr/>
        </p:nvSpPr>
        <p:spPr>
          <a:xfrm>
            <a:off x="4160520" y="5833872"/>
            <a:ext cx="1306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4</a:t>
            </a:r>
            <a:endParaRPr lang="en-US" sz="550" dirty="0"/>
          </a:p>
        </p:txBody>
      </p:sp>
      <p:sp>
        <p:nvSpPr>
          <p:cNvPr id="58" name="Shape 56"/>
          <p:cNvSpPr/>
          <p:nvPr/>
        </p:nvSpPr>
        <p:spPr>
          <a:xfrm>
            <a:off x="4455795" y="5559552"/>
            <a:ext cx="151638" cy="219456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Text 57"/>
          <p:cNvSpPr/>
          <p:nvPr/>
        </p:nvSpPr>
        <p:spPr>
          <a:xfrm>
            <a:off x="4455795" y="5833872"/>
            <a:ext cx="1516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8</a:t>
            </a:r>
            <a:endParaRPr lang="en-US" sz="550" dirty="0"/>
          </a:p>
        </p:txBody>
      </p:sp>
      <p:sp>
        <p:nvSpPr>
          <p:cNvPr id="60" name="Shape 58"/>
          <p:cNvSpPr/>
          <p:nvPr/>
        </p:nvSpPr>
        <p:spPr>
          <a:xfrm>
            <a:off x="4772025" y="5559552"/>
            <a:ext cx="172593" cy="219456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1" name="Text 59"/>
          <p:cNvSpPr/>
          <p:nvPr/>
        </p:nvSpPr>
        <p:spPr>
          <a:xfrm>
            <a:off x="4772025" y="5833872"/>
            <a:ext cx="1725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12</a:t>
            </a:r>
            <a:endParaRPr lang="en-US" sz="550" dirty="0"/>
          </a:p>
        </p:txBody>
      </p:sp>
      <p:sp>
        <p:nvSpPr>
          <p:cNvPr id="62" name="Shape 60"/>
          <p:cNvSpPr/>
          <p:nvPr/>
        </p:nvSpPr>
        <p:spPr>
          <a:xfrm>
            <a:off x="5109210" y="5559552"/>
            <a:ext cx="193548" cy="219456"/>
          </a:xfrm>
          <a:prstGeom prst="rect">
            <a:avLst/>
          </a:prstGeom>
          <a:solidFill>
            <a:srgbClr val="B9C2B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3" name="Text 61"/>
          <p:cNvSpPr/>
          <p:nvPr/>
        </p:nvSpPr>
        <p:spPr>
          <a:xfrm>
            <a:off x="5109210" y="5833872"/>
            <a:ext cx="1935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16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5467350" y="5559552"/>
            <a:ext cx="235458" cy="21945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5" name="Text 63"/>
          <p:cNvSpPr/>
          <p:nvPr/>
        </p:nvSpPr>
        <p:spPr>
          <a:xfrm>
            <a:off x="5467350" y="5833872"/>
            <a:ext cx="2354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24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5867400" y="5559552"/>
            <a:ext cx="277368" cy="21945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7" name="Text 65"/>
          <p:cNvSpPr/>
          <p:nvPr/>
        </p:nvSpPr>
        <p:spPr>
          <a:xfrm>
            <a:off x="5867400" y="5833872"/>
            <a:ext cx="277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32</a:t>
            </a:r>
            <a:endParaRPr lang="en-US" sz="550" dirty="0"/>
          </a:p>
        </p:txBody>
      </p:sp>
      <p:sp>
        <p:nvSpPr>
          <p:cNvPr id="68" name="Shape 66"/>
          <p:cNvSpPr/>
          <p:nvPr/>
        </p:nvSpPr>
        <p:spPr>
          <a:xfrm>
            <a:off x="6309360" y="5559552"/>
            <a:ext cx="361188" cy="21945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9" name="Text 67"/>
          <p:cNvSpPr/>
          <p:nvPr/>
        </p:nvSpPr>
        <p:spPr>
          <a:xfrm>
            <a:off x="6309360" y="5833872"/>
            <a:ext cx="3611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48</a:t>
            </a:r>
            <a:endParaRPr lang="en-US" sz="550" dirty="0"/>
          </a:p>
        </p:txBody>
      </p:sp>
      <p:sp>
        <p:nvSpPr>
          <p:cNvPr id="70" name="Shape 68"/>
          <p:cNvSpPr/>
          <p:nvPr/>
        </p:nvSpPr>
        <p:spPr>
          <a:xfrm>
            <a:off x="6835140" y="5559552"/>
            <a:ext cx="445008" cy="21945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1" name="Text 69"/>
          <p:cNvSpPr/>
          <p:nvPr/>
        </p:nvSpPr>
        <p:spPr>
          <a:xfrm>
            <a:off x="6835140" y="5833872"/>
            <a:ext cx="445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64</a:t>
            </a:r>
            <a:endParaRPr lang="en-US" sz="550" dirty="0"/>
          </a:p>
        </p:txBody>
      </p:sp>
      <p:sp>
        <p:nvSpPr>
          <p:cNvPr id="72" name="Shape 70"/>
          <p:cNvSpPr/>
          <p:nvPr/>
        </p:nvSpPr>
        <p:spPr>
          <a:xfrm>
            <a:off x="7444740" y="5559552"/>
            <a:ext cx="612648" cy="21945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3" name="Text 71"/>
          <p:cNvSpPr/>
          <p:nvPr/>
        </p:nvSpPr>
        <p:spPr>
          <a:xfrm>
            <a:off x="7444740" y="5833872"/>
            <a:ext cx="612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B9C2BD"/>
                </a:solidFill>
              </a:rPr>
              <a:t>96</a:t>
            </a:r>
            <a:endParaRPr lang="en-US" sz="550" dirty="0"/>
          </a:p>
        </p:txBody>
      </p:sp>
      <p:sp>
        <p:nvSpPr>
          <p:cNvPr id="74" name="Text 72"/>
          <p:cNvSpPr/>
          <p:nvPr/>
        </p:nvSpPr>
        <p:spPr>
          <a:xfrm>
            <a:off x="8275320" y="55778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5F7F5"/>
                </a:solidFill>
              </a:rPr>
              <a:t>Gutter recomendado: 16–24 px  ·  Baseline: 8 px</a:t>
            </a:r>
            <a:endParaRPr lang="en-US" sz="850" dirty="0"/>
          </a:p>
        </p:txBody>
      </p:sp>
      <p:sp>
        <p:nvSpPr>
          <p:cNvPr id="7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ICONOGRAFÍA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Funcional y consistente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Los iconos explican acciones y estados; los mensajes críticos siempre llevan etiqueta.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Grid 24 × 24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Stroke 1.5–2 px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302752" y="21488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8563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85632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Terminal redondeada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58368" y="35204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1248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04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Ángulos coherentes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480560" y="35204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663440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05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Una tinta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8302752" y="35204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485632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06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85632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Clear space 2 px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ICONOGRAFÍA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7110D"/>
                </a:solidFill>
              </a:rPr>
              <a:t>Funcional y consistente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472184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42A27"/>
                </a:solidFill>
              </a:rPr>
              <a:t>Los iconos orientan, explican acciones y refuerzan estados. Nunca deben añadir ruido.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993392"/>
            <a:ext cx="2880360" cy="361188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41248" y="226771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30" dirty="0">
                <a:solidFill>
                  <a:srgbClr val="00FF4D"/>
                </a:solidFill>
              </a:rPr>
              <a:t>REGLAS DEL SISTEMA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1248" y="26700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5"/>
                </a:solidFill>
              </a:rPr>
              <a:t>24 × 24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92224" y="268833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Retícula base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41248" y="2999232"/>
            <a:ext cx="2267712" cy="1"/>
          </a:xfrm>
          <a:prstGeom prst="line">
            <a:avLst/>
          </a:prstGeom>
          <a:noFill/>
          <a:ln w="762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841248" y="3200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5"/>
                </a:solidFill>
              </a:rPr>
              <a:t>1.5–2 px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92224" y="32186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Grosor de trazo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41248" y="3529584"/>
            <a:ext cx="2267712" cy="1"/>
          </a:xfrm>
          <a:prstGeom prst="line">
            <a:avLst/>
          </a:prstGeom>
          <a:noFill/>
          <a:ln w="762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41248" y="37307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5"/>
                </a:solidFill>
              </a:rPr>
              <a:t>Redondo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92224" y="374904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Terminales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41248" y="4059936"/>
            <a:ext cx="2267712" cy="1"/>
          </a:xfrm>
          <a:prstGeom prst="line">
            <a:avLst/>
          </a:prstGeom>
          <a:noFill/>
          <a:ln w="762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41248" y="42611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5"/>
                </a:solidFill>
              </a:rPr>
              <a:t>Una tinta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92224" y="427939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Uso principal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41248" y="4590288"/>
            <a:ext cx="2267712" cy="1"/>
          </a:xfrm>
          <a:prstGeom prst="line">
            <a:avLst/>
          </a:prstGeom>
          <a:noFill/>
          <a:ln w="762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1248" y="47914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F7F5"/>
                </a:solidFill>
              </a:rPr>
              <a:t>2 px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92224" y="480974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Área interna mínima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41248" y="5120640"/>
            <a:ext cx="2267712" cy="1"/>
          </a:xfrm>
          <a:prstGeom prst="line">
            <a:avLst/>
          </a:prstGeom>
          <a:noFill/>
          <a:ln w="762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841248" y="52303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kern="0" spc="110" dirty="0">
                <a:solidFill>
                  <a:srgbClr val="00FF4D"/>
                </a:solidFill>
              </a:rPr>
              <a:t>Principio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554480" y="5148072"/>
            <a:ext cx="1554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F7F5"/>
                </a:solidFill>
              </a:rPr>
              <a:t>Misma geometría.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F5F7F5"/>
                </a:solidFill>
              </a:rPr>
              <a:t>Mismo significado.</a:t>
            </a:r>
            <a:endParaRPr lang="en-US" sz="700" dirty="0"/>
          </a:p>
          <a:p>
            <a:pPr marL="0" indent="0" algn="l">
              <a:buNone/>
            </a:pPr>
            <a:r>
              <a:rPr lang="en-US" sz="700" b="1" dirty="0">
                <a:solidFill>
                  <a:srgbClr val="F5F7F5"/>
                </a:solidFill>
              </a:rPr>
              <a:t>En todos los canales.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822192" y="2011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063D2E"/>
                </a:solidFill>
              </a:rPr>
              <a:t>FAMILIAS DE ICONOS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22192" y="2395728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3986784" y="2560320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123944" y="2724912"/>
            <a:ext cx="256032" cy="292608"/>
          </a:xfrm>
          <a:prstGeom prst="line">
            <a:avLst/>
          </a:prstGeom>
          <a:noFill/>
          <a:ln w="1778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4379976" y="2724912"/>
            <a:ext cx="109728" cy="292608"/>
          </a:xfrm>
          <a:prstGeom prst="line">
            <a:avLst/>
          </a:prstGeom>
          <a:noFill/>
          <a:ln w="1778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4123944" y="2907792"/>
            <a:ext cx="411480" cy="329184"/>
          </a:xfrm>
          <a:prstGeom prst="arc">
            <a:avLst/>
          </a:prstGeom>
          <a:solidFill>
            <a:srgbClr val="000000">
              <a:alpha val="0"/>
            </a:srgbClr>
          </a:solidFill>
          <a:ln w="1778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828032" y="2706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CARGA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28032" y="30175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Iniciar · detener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364224" y="2395728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6528816" y="2560320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2"/>
          <p:cNvSpPr/>
          <p:nvPr/>
        </p:nvSpPr>
        <p:spPr>
          <a:xfrm>
            <a:off x="6656832" y="2724912"/>
            <a:ext cx="457200" cy="457200"/>
          </a:xfrm>
          <a:prstGeom prst="chevron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7370064" y="2706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NAVEGACIÓN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70064" y="30175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Ruta · dirección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906256" y="2395728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9070848" y="2560320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9180576" y="2834640"/>
            <a:ext cx="384048" cy="292608"/>
          </a:xfrm>
          <a:prstGeom prst="rect">
            <a:avLst/>
          </a:prstGeom>
          <a:solidFill>
            <a:srgbClr val="000000">
              <a:alpha val="0"/>
            </a:srgbClr>
          </a:solidFill>
          <a:ln w="1778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9491472" y="2871216"/>
            <a:ext cx="219456" cy="201168"/>
          </a:xfrm>
          <a:prstGeom prst="arc">
            <a:avLst/>
          </a:prstGeom>
          <a:solidFill>
            <a:srgbClr val="000000">
              <a:alpha val="0"/>
            </a:srgbClr>
          </a:solidFill>
          <a:ln w="1778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9912096" y="270662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HOSPITALITY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912096" y="3017520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Coffee · lounge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822192" y="3739896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3986784" y="3904488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Shape 43"/>
          <p:cNvSpPr/>
          <p:nvPr/>
        </p:nvSpPr>
        <p:spPr>
          <a:xfrm>
            <a:off x="4187952" y="4032504"/>
            <a:ext cx="256032" cy="256032"/>
          </a:xfrm>
          <a:prstGeom prst="ellipse">
            <a:avLst/>
          </a:prstGeom>
          <a:solidFill>
            <a:srgbClr val="000000">
              <a:alpha val="0"/>
            </a:srgbClr>
          </a:solidFill>
          <a:ln w="1778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Shape 44"/>
          <p:cNvSpPr/>
          <p:nvPr/>
        </p:nvSpPr>
        <p:spPr>
          <a:xfrm>
            <a:off x="4096512" y="4261104"/>
            <a:ext cx="438912" cy="320040"/>
          </a:xfrm>
          <a:prstGeom prst="arc">
            <a:avLst/>
          </a:prstGeom>
          <a:solidFill>
            <a:srgbClr val="000000">
              <a:alpha val="0"/>
            </a:srgbClr>
          </a:solidFill>
          <a:ln w="1778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4828032" y="40507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MEMBERS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28032" y="436168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Perfil · beneficios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364224" y="3739896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Shape 48"/>
          <p:cNvSpPr/>
          <p:nvPr/>
        </p:nvSpPr>
        <p:spPr>
          <a:xfrm>
            <a:off x="6528816" y="3904488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Shape 49"/>
          <p:cNvSpPr/>
          <p:nvPr/>
        </p:nvSpPr>
        <p:spPr>
          <a:xfrm rot="-1500000">
            <a:off x="6638544" y="4014216"/>
            <a:ext cx="475488" cy="475488"/>
          </a:xfrm>
          <a:prstGeom prst="arc">
            <a:avLst/>
          </a:prstGeom>
          <a:solidFill>
            <a:srgbClr val="000000">
              <a:alpha val="0"/>
            </a:srgbClr>
          </a:solidFill>
          <a:ln w="1778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Shape 50"/>
          <p:cNvSpPr/>
          <p:nvPr/>
        </p:nvSpPr>
        <p:spPr>
          <a:xfrm flipV="1">
            <a:off x="6748272" y="4151376"/>
            <a:ext cx="292608" cy="256032"/>
          </a:xfrm>
          <a:prstGeom prst="line">
            <a:avLst/>
          </a:prstGeom>
          <a:noFill/>
          <a:ln w="1778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7370064" y="40507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SOSTENIBILIDAD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70064" y="436168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Impacto · energía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906256" y="3739896"/>
            <a:ext cx="2267712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Shape 54"/>
          <p:cNvSpPr/>
          <p:nvPr/>
        </p:nvSpPr>
        <p:spPr>
          <a:xfrm>
            <a:off x="9070848" y="3904488"/>
            <a:ext cx="713232" cy="713232"/>
          </a:xfrm>
          <a:prstGeom prst="roundRect">
            <a:avLst/>
          </a:prstGeom>
          <a:solidFill>
            <a:srgbClr val="F3F6F4"/>
          </a:solidFill>
          <a:ln w="635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Shape 55"/>
          <p:cNvSpPr/>
          <p:nvPr/>
        </p:nvSpPr>
        <p:spPr>
          <a:xfrm>
            <a:off x="9217152" y="4050792"/>
            <a:ext cx="420624" cy="420624"/>
          </a:xfrm>
          <a:prstGeom prst="ellipse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8" name="Text 56"/>
          <p:cNvSpPr/>
          <p:nvPr/>
        </p:nvSpPr>
        <p:spPr>
          <a:xfrm>
            <a:off x="9912096" y="40507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ESTADOS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912096" y="436168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Disponible · error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822192" y="51480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kern="0" spc="110" dirty="0">
                <a:solidFill>
                  <a:srgbClr val="063D2E"/>
                </a:solidFill>
              </a:rPr>
              <a:t>USO CORRECTO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3822192" y="5422392"/>
            <a:ext cx="3456432" cy="658368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2" name="Shape 60"/>
          <p:cNvSpPr/>
          <p:nvPr/>
        </p:nvSpPr>
        <p:spPr>
          <a:xfrm>
            <a:off x="4151376" y="5559552"/>
            <a:ext cx="420624" cy="420624"/>
          </a:xfrm>
          <a:prstGeom prst="ellipse">
            <a:avLst/>
          </a:prstGeom>
          <a:solidFill>
            <a:srgbClr val="00FF4D"/>
          </a:solidFill>
          <a:ln w="127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3" name="Text 61"/>
          <p:cNvSpPr/>
          <p:nvPr/>
        </p:nvSpPr>
        <p:spPr>
          <a:xfrm>
            <a:off x="4828032" y="56235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F7F5"/>
                </a:solidFill>
              </a:rPr>
              <a:t>Disponible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742432" y="5632704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B9C2BD"/>
                </a:solidFill>
              </a:rPr>
              <a:t>Color + icono + texto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7562088" y="51480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kern="0" spc="110" dirty="0">
                <a:solidFill>
                  <a:srgbClr val="FF5C5C"/>
                </a:solidFill>
              </a:rPr>
              <a:t>EVITAR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562088" y="5422392"/>
            <a:ext cx="3977640" cy="658368"/>
          </a:xfrm>
          <a:prstGeom prst="roundRect">
            <a:avLst/>
          </a:prstGeom>
          <a:solidFill>
            <a:srgbClr val="FFF7F7"/>
          </a:solidFill>
          <a:ln w="10160">
            <a:solidFill>
              <a:srgbClr val="F4CAC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7" name="Shape 65"/>
          <p:cNvSpPr/>
          <p:nvPr/>
        </p:nvSpPr>
        <p:spPr>
          <a:xfrm>
            <a:off x="7818120" y="5596128"/>
            <a:ext cx="237744" cy="237744"/>
          </a:xfrm>
          <a:prstGeom prst="ellipse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8" name="Text 66"/>
          <p:cNvSpPr/>
          <p:nvPr/>
        </p:nvSpPr>
        <p:spPr>
          <a:xfrm>
            <a:off x="8183880" y="560527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7110D"/>
                </a:solidFill>
              </a:rPr>
              <a:t>Solo color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9144000" y="560527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242A27"/>
                </a:solidFill>
              </a:rPr>
              <a:t>Iconos mezclados o sin etiqueta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11480" y="6510528"/>
            <a:ext cx="11338560" cy="1"/>
          </a:xfrm>
          <a:prstGeom prst="line">
            <a:avLst/>
          </a:prstGeom>
          <a:noFill/>
          <a:ln w="1270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1" name="Text 69"/>
          <p:cNvSpPr/>
          <p:nvPr/>
        </p:nvSpPr>
        <p:spPr>
          <a:xfrm>
            <a:off x="438912" y="656539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kern="0" spc="150" dirty="0">
                <a:solidFill>
                  <a:srgbClr val="063D2E"/>
                </a:solidFill>
              </a:rPr>
              <a:t>EVCSE  |  BRAND STANDARDS 2.5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8458200" y="6565392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kern="0" spc="120" dirty="0">
                <a:solidFill>
                  <a:srgbClr val="063D2E"/>
                </a:solidFill>
              </a:rPr>
              <a:t>LÁMINA MODULAR · SISTEMA VISUAL</a:t>
            </a:r>
            <a:endParaRPr lang="en-US" sz="6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FOTOGRAFÍA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Life over hardware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70% vida y experiencia; 30% movilidad e infraestructura.</a:t>
            </a:r>
            <a:endParaRPr lang="en-US" sz="1250" dirty="0"/>
          </a:p>
        </p:txBody>
      </p:sp>
      <p:pic>
        <p:nvPicPr>
          <p:cNvPr id="5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t="8566" b="8566"/>
          <a:stretch/>
        </p:blipFill>
        <p:spPr>
          <a:xfrm>
            <a:off x="594360" y="1965960"/>
            <a:ext cx="6537960" cy="3611880"/>
          </a:xfrm>
          <a:prstGeom prst="rect">
            <a:avLst/>
          </a:prstGeom>
        </p:spPr>
      </p:pic>
      <p:pic>
        <p:nvPicPr>
          <p:cNvPr id="6" name="Image 1" descr="/mnt/data/WhatsApp Image 2026-09-23 at 11.40.36 AM.jpeg"/>
          <p:cNvPicPr>
            <a:picLocks noChangeAspect="1"/>
          </p:cNvPicPr>
          <p:nvPr/>
        </p:nvPicPr>
        <p:blipFill>
          <a:blip r:embed="rId4"/>
          <a:srcRect t="10170" b="10170"/>
          <a:stretch/>
        </p:blipFill>
        <p:spPr>
          <a:xfrm>
            <a:off x="7360920" y="1965960"/>
            <a:ext cx="4251960" cy="3611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4828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FF4D"/>
                </a:solidFill>
              </a:rPr>
              <a:t>70%</a:t>
            </a:r>
            <a:endParaRPr lang="en-US" sz="2900" dirty="0"/>
          </a:p>
        </p:txBody>
      </p:sp>
      <p:sp>
        <p:nvSpPr>
          <p:cNvPr id="8" name="Text 4"/>
          <p:cNvSpPr/>
          <p:nvPr/>
        </p:nvSpPr>
        <p:spPr>
          <a:xfrm>
            <a:off x="2011680" y="49926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30" dirty="0">
                <a:solidFill>
                  <a:srgbClr val="F5F7F5"/>
                </a:solidFill>
              </a:rPr>
              <a:t>EXPERIENCIA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589520" y="4828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CDB8"/>
                </a:solidFill>
              </a:rPr>
              <a:t>30%</a:t>
            </a:r>
            <a:endParaRPr lang="en-US" sz="2900" dirty="0"/>
          </a:p>
        </p:txBody>
      </p:sp>
      <p:sp>
        <p:nvSpPr>
          <p:cNvPr id="10" name="Text 6"/>
          <p:cNvSpPr/>
          <p:nvPr/>
        </p:nvSpPr>
        <p:spPr>
          <a:xfrm>
            <a:off x="8778240" y="49926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80" dirty="0">
                <a:solidFill>
                  <a:srgbClr val="F5F7F5"/>
                </a:solidFill>
              </a:rPr>
              <a:t>INFRAESTRUCTURA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MOTION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Energía que orienta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El movimiento explica estado y continuidad; nunca distrae.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MICRO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150–250 ms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PANTALLA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250–450 ms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21488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302752" y="21488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8563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CURVA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85632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Ease-out entrada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58368" y="35204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1248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ENERGY LINE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Trazo continuo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480560" y="35204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663440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VALUE CLOCK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Progreso legible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3520440"/>
            <a:ext cx="35204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8302752" y="35204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485632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REDUCED MOTION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85632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Alternativa accesible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5257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Evitar rebotes, destellos y loops permanentes.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MOTION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5F7F5"/>
                </a:solidFill>
              </a:rPr>
              <a:t>Energía que orienta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48132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B9C2BD"/>
                </a:solidFill>
              </a:rPr>
              <a:t>El movimiento guía, confirma y conecta cada momento de la experiencia. Nunca distrae.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9933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00FF4D"/>
                </a:solidFill>
              </a:rPr>
              <a:t>ENERGY LINE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60120" y="2971800"/>
            <a:ext cx="6400800" cy="1"/>
          </a:xfrm>
          <a:prstGeom prst="line">
            <a:avLst/>
          </a:prstGeom>
          <a:noFill/>
          <a:ln w="63500">
            <a:solidFill>
              <a:srgbClr val="40504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960120" y="2971800"/>
            <a:ext cx="4892040" cy="1"/>
          </a:xfrm>
          <a:prstGeom prst="line">
            <a:avLst/>
          </a:prstGeom>
          <a:noFill/>
          <a:ln w="63500">
            <a:solidFill>
              <a:srgbClr val="00FF4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1051560" y="2688336"/>
            <a:ext cx="566928" cy="566928"/>
          </a:xfrm>
          <a:prstGeom prst="ellipse">
            <a:avLst/>
          </a:prstGeom>
          <a:solidFill>
            <a:srgbClr val="00FF4D"/>
          </a:solidFill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216152" y="283006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10D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5528" y="34564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5F7F5"/>
                </a:solidFill>
              </a:rPr>
              <a:t>CONECTA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82112" y="2688336"/>
            <a:ext cx="566928" cy="566928"/>
          </a:xfrm>
          <a:prstGeom prst="ellipse">
            <a:avLst/>
          </a:prstGeom>
          <a:solidFill>
            <a:srgbClr val="00FF4D"/>
          </a:solidFill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346704" y="283006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7110D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5F7F5"/>
                </a:solidFill>
              </a:rPr>
              <a:t>CARGA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21808" y="2688336"/>
            <a:ext cx="566928" cy="566928"/>
          </a:xfrm>
          <a:prstGeom prst="ellipse">
            <a:avLst/>
          </a:prstGeom>
          <a:solidFill>
            <a:srgbClr val="07110D"/>
          </a:solidFill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486400" y="283006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F4D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65776" y="34564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80" dirty="0">
                <a:solidFill>
                  <a:srgbClr val="F5F7F5"/>
                </a:solidFill>
              </a:rPr>
              <a:t>CONTINÚA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0120" y="3822192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B9C2BD"/>
                </a:solidFill>
              </a:rPr>
              <a:t>La energía entra, activa y continúa hacia la siguiente acción.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58200" y="1984248"/>
            <a:ext cx="2240280" cy="2240280"/>
          </a:xfrm>
          <a:prstGeom prst="ellipse">
            <a:avLst/>
          </a:prstGeom>
          <a:solidFill>
            <a:srgbClr val="000000">
              <a:alpha val="0"/>
            </a:srgbClr>
          </a:solidFill>
          <a:ln w="177800">
            <a:solidFill>
              <a:srgbClr val="3541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 rot="-4200000">
            <a:off x="8458200" y="1984248"/>
            <a:ext cx="2240280" cy="2240280"/>
          </a:xfrm>
          <a:prstGeom prst="arc">
            <a:avLst/>
          </a:prstGeom>
          <a:solidFill>
            <a:srgbClr val="000000">
              <a:alpha val="0"/>
            </a:srgbClr>
          </a:solidFill>
          <a:ln w="1778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8796528" y="25328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FF4D"/>
                </a:solidFill>
              </a:rPr>
              <a:t>24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171432" y="32278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7F5"/>
                </a:solidFill>
              </a:rPr>
              <a:t>MIN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94192" y="44805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kern="0" spc="110" dirty="0">
                <a:solidFill>
                  <a:srgbClr val="00FF4D"/>
                </a:solidFill>
              </a:rPr>
              <a:t>VALUE CLOCK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92440" y="4809744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B9C2BD"/>
                </a:solidFill>
              </a:rPr>
              <a:t>Tiempo restante convertido en oportunidad.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4617720"/>
            <a:ext cx="2331720" cy="129844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658368" y="4617720"/>
            <a:ext cx="54864" cy="129844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859536" y="47823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00FF4D"/>
                </a:solidFill>
              </a:rPr>
              <a:t>MICROINTERACCIÓN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9536" y="51023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5"/>
                </a:solidFill>
              </a:rPr>
              <a:t>150–250 ms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59536" y="5550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Confirma una selección, un botón o un cambio de estado.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82112" y="4617720"/>
            <a:ext cx="2331720" cy="129844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3182112" y="4617720"/>
            <a:ext cx="54864" cy="129844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3383280" y="47823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00CDB8"/>
                </a:solidFill>
              </a:rPr>
              <a:t>TRANSICIÓN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83280" y="51023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5"/>
                </a:solidFill>
              </a:rPr>
              <a:t>250–450 ms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3383280" y="5550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Conecta pantallas y pasos sin frenar el recorrido.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05856" y="4617720"/>
            <a:ext cx="2331720" cy="129844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33"/>
          <p:cNvSpPr/>
          <p:nvPr/>
        </p:nvSpPr>
        <p:spPr>
          <a:xfrm>
            <a:off x="5705856" y="4617720"/>
            <a:ext cx="54864" cy="1298448"/>
          </a:xfrm>
          <a:prstGeom prst="rect">
            <a:avLst/>
          </a:prstGeom>
          <a:solidFill>
            <a:srgbClr val="58A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5907024" y="47823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58A6FF"/>
                </a:solidFill>
              </a:rPr>
              <a:t>CURVAS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907024" y="51023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5"/>
                </a:solidFill>
              </a:rPr>
              <a:t>Ease-out / Linear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907024" y="555040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Ease-out para entrada. Linear para progreso real.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29600" y="4617720"/>
            <a:ext cx="2788920" cy="129844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8229600" y="4617720"/>
            <a:ext cx="54864" cy="1298448"/>
          </a:xfrm>
          <a:prstGeom prst="rect">
            <a:avLst/>
          </a:prstGeom>
          <a:solidFill>
            <a:srgbClr val="FFB54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8430768" y="478231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FFB547"/>
                </a:solidFill>
              </a:rPr>
              <a:t>REDUCED MOTION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430768" y="510235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5F7F5"/>
                </a:solidFill>
              </a:rPr>
              <a:t>Accesibilidad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8430768" y="55504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B9C2BD"/>
                </a:solidFill>
              </a:rPr>
              <a:t>Sustituir desplazamientos por opacidad y cambios de estado.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58368" y="61447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kern="0" spc="110" dirty="0">
                <a:solidFill>
                  <a:srgbClr val="00FF4D"/>
                </a:solidFill>
              </a:rPr>
              <a:t>REGLA MAESTRA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874520" y="609904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F7F5"/>
                </a:solidFill>
              </a:rPr>
              <a:t>Si el movimiento no orienta, confirma o explica, no debe utilizarse.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235440" y="611733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FF5C5C"/>
                </a:solidFill>
              </a:rPr>
              <a:t>Evitar rebotes · destellos · loops permanentes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11480" y="6510528"/>
            <a:ext cx="11338560" cy="1"/>
          </a:xfrm>
          <a:prstGeom prst="line">
            <a:avLst/>
          </a:prstGeom>
          <a:noFill/>
          <a:ln w="127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438912" y="6565392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kern="0" spc="150" dirty="0">
                <a:solidFill>
                  <a:srgbClr val="B9C2BD"/>
                </a:solidFill>
              </a:rPr>
              <a:t>EVCSE  |  BRAND STANDARDS 2.5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8595360" y="6565392"/>
            <a:ext cx="2971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kern="0" spc="120" dirty="0">
                <a:solidFill>
                  <a:srgbClr val="B9C2BD"/>
                </a:solidFill>
              </a:rPr>
              <a:t>LÁMINA MODULAR · MOTION</a:t>
            </a:r>
            <a:endParaRPr lang="en-US" sz="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Experiencia digital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Una interfaz sencilla por delante y una plataforma sólida por detrás.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DESIGN SYSTEM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Tokens esenciales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Una fuente compartida entre diseño y desarrollo.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color.brand.energy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97764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#00FF4D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295144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217920" y="18745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color.surface.deep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50976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#07110D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295144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85800" y="2587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color.surface.graphite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77640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#242A27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008376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217920" y="2587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color.text.primary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509760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#F5F7F5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008376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85800" y="33009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radius.card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77640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16 px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721608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217920" y="33009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space.base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509760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8 px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721608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85800" y="40142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motion.fast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77640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200 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4434840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217920" y="40142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stroke.icon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509760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2 px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4434840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ESTADOS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Un lenguaje compartido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App, web y estación deben expresar el mismo estado.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289304" y="2724912"/>
            <a:ext cx="585216" cy="585216"/>
          </a:xfrm>
          <a:prstGeom prst="ellipse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DISPONIBLE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98648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7110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593592" y="2724912"/>
            <a:ext cx="585216" cy="585216"/>
          </a:xfrm>
          <a:prstGeom prst="ellipse">
            <a:avLst/>
          </a:prstGeom>
          <a:solidFill>
            <a:srgbClr val="07110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081528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RESERVADO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02936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5897880" y="2724912"/>
            <a:ext cx="585216" cy="58521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385816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CARGANDO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07224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8202168" y="2724912"/>
            <a:ext cx="585216" cy="585216"/>
          </a:xfrm>
          <a:prstGeom prst="ellipse">
            <a:avLst/>
          </a:prstGeom>
          <a:solidFill>
            <a:srgbClr val="FFB54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7690104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ATENCIÓN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811512" y="2423160"/>
            <a:ext cx="1975104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5C5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10506456" y="2724912"/>
            <a:ext cx="585216" cy="585216"/>
          </a:xfrm>
          <a:prstGeom prst="ellipse">
            <a:avLst/>
          </a:prstGeom>
          <a:solidFill>
            <a:srgbClr val="FF5C5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994392" y="39776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0D"/>
                </a:solidFill>
              </a:rPr>
              <a:t>NO DISPONIBLE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7240" y="516636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10D"/>
                </a:solidFill>
              </a:rPr>
              <a:t>Siempre: color + texto + icono o forma.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TIEMPO DE VALOR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Pantalla icónica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El producto no solo muestra cuánto falta; sugiere cómo aprovecharlo.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291840" cy="4023360"/>
          </a:xfrm>
          <a:prstGeom prst="roundRect">
            <a:avLst/>
          </a:prstGeom>
          <a:solidFill>
            <a:srgbClr val="07110D"/>
          </a:solidFill>
          <a:ln w="12700">
            <a:solidFill>
              <a:srgbClr val="242A2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188720" y="2432304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FF4D"/>
                </a:solidFill>
              </a:rPr>
              <a:t>24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600200" y="3364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7F5"/>
                </a:solidFill>
              </a:rPr>
              <a:t>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977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7F5"/>
                </a:solidFill>
              </a:rPr>
              <a:t>Tu vehículo carga.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5F7F5"/>
                </a:solidFill>
              </a:rPr>
              <a:t>Tú avanzas.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00600" y="1965960"/>
            <a:ext cx="5943600" cy="768096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800600" y="1965960"/>
            <a:ext cx="50292" cy="768096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983480" y="2112264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CERTEZA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83480" y="2478024"/>
            <a:ext cx="5596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Disponibilidad antes de llegar.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0" y="2926080"/>
            <a:ext cx="5943600" cy="768096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800600" y="2926080"/>
            <a:ext cx="50292" cy="768096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83480" y="3072384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LIBERTAD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83480" y="3438144"/>
            <a:ext cx="5596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Elegir cómo usar el tiempo.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3886200"/>
            <a:ext cx="5943600" cy="768096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800600" y="3886200"/>
            <a:ext cx="50292" cy="768096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983480" y="4032504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PROGRESO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83480" y="4398264"/>
            <a:ext cx="5596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Estado y autonomía.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4846320"/>
            <a:ext cx="5943600" cy="768096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800600" y="4846320"/>
            <a:ext cx="50292" cy="768096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983480" y="4992624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RECURRENCIA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83480" y="5358384"/>
            <a:ext cx="5596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Puntos y beneficios.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 (3).jpeg"/>
          <p:cNvPicPr>
            <a:picLocks noChangeAspect="1"/>
          </p:cNvPicPr>
          <p:nvPr/>
        </p:nvPicPr>
        <p:blipFill>
          <a:blip r:embed="rId3"/>
          <a:srcRect l="22004" r="22004"/>
          <a:stretch/>
        </p:blipFill>
        <p:spPr>
          <a:xfrm>
            <a:off x="6720840" y="0"/>
            <a:ext cx="5468112" cy="65105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510528"/>
          </a:xfrm>
          <a:prstGeom prst="rect">
            <a:avLst/>
          </a:prstGeom>
          <a:solidFill>
            <a:srgbClr val="07110D">
              <a:alpha val="5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06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Experiencia física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La arquitectura convierte la promesa en una experiencia tangible.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WAYFINDING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Requisitos mínimos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Lectura inmediata desde el vehículo y mantenimiento sostenible.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1965960"/>
            <a:ext cx="50292" cy="9144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112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CONTRASTE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478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Deep/Cloud + color funcional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965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50292" cy="9144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92240" y="2112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DISTANCIA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2478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Dimensionar por velocidad y ángulo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3108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58368" y="3108960"/>
            <a:ext cx="50292" cy="9144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1248" y="3255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ILUMINACIÓN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" y="3621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Uniforme; sin deslumbramiento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3108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309360" y="3108960"/>
            <a:ext cx="50292" cy="9144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492240" y="3255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MATERIALES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92240" y="3621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Exterior UV y anticorrosión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8368" y="4251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658368" y="4251960"/>
            <a:ext cx="50292" cy="9144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841248" y="4398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ALTURA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" y="4764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Normativa y accesibilidad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4251960"/>
            <a:ext cx="53035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6309360" y="4251960"/>
            <a:ext cx="50292" cy="9144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492240" y="439826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ESTADOS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92240" y="4764024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Color + texto + forma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5532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110D"/>
                </a:solidFill>
              </a:rPr>
              <a:t>Todo sitio requiere plano de wayfinding aprobado antes de fabricar.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MATERIALIDAD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Premium útil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La ejecución y el mantenimiento pesan más que la ostentación.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41248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SUPERFICIES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Mate o satinado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VERDE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Beacon y estados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02752" y="21488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302752" y="21488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85632" y="22951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ILUMINACIÓN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85632" y="26609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Neutra/cálida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58368" y="3520440"/>
            <a:ext cx="50292" cy="1115568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41248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IMPRESIÓN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Prueba física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35204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480560" y="3520440"/>
            <a:ext cx="50292" cy="1115568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663440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BORDADO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63440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Logo flat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2752" y="3520440"/>
            <a:ext cx="3520440" cy="1115568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8302752" y="3520440"/>
            <a:ext cx="50292" cy="1115568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8485632" y="366674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GRABADO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85632" y="403250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Monocromo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5257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5"/>
                </a:solidFill>
              </a:rPr>
              <a:t>Validar siempre sobre el sustrato real.</a:t>
            </a:r>
            <a:endParaRPr lang="en-US" sz="15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ZONAS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Nombrar por la acción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La señalización también comunica la promesa.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50292" cy="11430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68680" y="229514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WORK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660904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Tu trabajo continúa.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263640" y="2148840"/>
            <a:ext cx="50292" cy="11430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46520" y="229514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PAUSE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46520" y="2660904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Una pausa para avanzar.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56616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85800" y="3566160"/>
            <a:ext cx="50292" cy="114300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68680" y="371246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CONNECT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4078224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La energía conecta.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356616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0D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263640" y="3566160"/>
            <a:ext cx="50292" cy="1143000"/>
          </a:xfrm>
          <a:prstGeom prst="rect">
            <a:avLst/>
          </a:prstGeom>
          <a:solidFill>
            <a:srgbClr val="063D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446520" y="3712464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7110D"/>
                </a:solidFill>
              </a:rPr>
              <a:t>COFFEE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46520" y="4078224"/>
            <a:ext cx="4864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42A27"/>
                </a:solidFill>
              </a:rPr>
              <a:t>Haz que los minutos valgan.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20240" y="525780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7110D"/>
                </a:solidFill>
              </a:rPr>
              <a:t>SIGUE AVANZANDO  →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FF4D"/>
                </a:solidFill>
              </a:rPr>
              <a:t>07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5532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F7F5"/>
                </a:solidFill>
              </a:rPr>
              <a:t>Gobierno y producción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1792" y="306324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B9C2BD"/>
                </a:solidFill>
              </a:rPr>
              <a:t>Una fuente única de verdad reduce caos, reprocesos y deformaciones.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1792" y="4526280"/>
            <a:ext cx="1463040" cy="1"/>
          </a:xfrm>
          <a:prstGeom prst="line">
            <a:avLst/>
          </a:prstGeom>
          <a:noFill/>
          <a:ln w="38100">
            <a:solidFill>
              <a:srgbClr val="00FF4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CO-BRANDING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Jerarquía de convivencia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No crear una tercera marca híbrida.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50292" cy="22860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EVCSE LEAD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EVCSE domina y el aliado avala.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80560" y="2331720"/>
            <a:ext cx="50292" cy="22860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66344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EQUAL PARTNERS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Misma altura óptica y separador.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233172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229600" y="2331720"/>
            <a:ext cx="50292" cy="228600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12480" y="247802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HOST LOCATION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0" y="284378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El anfitrión domina; EVCSE identifica la experiencia.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GOBIERNO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Roles y aprobaciones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La marca se administra como un activo empresarial.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Brand Owner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71800" y="18745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Estrategia, aprobación y excepciones.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231343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Design Steward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71800" y="2606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Archivos, estándares y control de calidad.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04495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Product Owner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33375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Experiencia digital y tokens.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77647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77240" y="4069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Experience Owner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71800" y="40690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Espacios, servicio y señalización.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50799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777240" y="4800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3D2E"/>
                </a:solidFill>
              </a:rPr>
              <a:t>Partners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71800" y="4800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42A27"/>
                </a:solidFill>
              </a:rPr>
              <a:t>Ejecución bajo estándares aprobados.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239512"/>
            <a:ext cx="10149840" cy="1"/>
          </a:xfrm>
          <a:prstGeom prst="line">
            <a:avLst/>
          </a:prstGeom>
          <a:noFill/>
          <a:ln w="12700">
            <a:solidFill>
              <a:srgbClr val="D8DFD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77240" y="5577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Toda excepción registra motivo, alcance, responsable y vigencia.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PAQUETE MAESTRO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Estructura y nomenclatura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Solo el repositorio oficial contiene fuentes vigentes.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01_Strategy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950208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PPTX · PDF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2295144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190488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02_Logos_Vector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482328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AI · SVG · EPS · PDF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0488" y="2295144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58368" y="2587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03_Logos_Raster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50208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PNG · WebP · 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3008376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190488" y="2587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04_Fonts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482328" y="2587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Archivos · licencias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90488" y="3008376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58368" y="3300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05_Templates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50208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PPTX · DOCX · Figma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3721608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190488" y="3300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06_Applications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482328" y="33009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Digital · físico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0488" y="3721608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58368" y="40142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07_Partners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50208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Co-branding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" y="4434840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190488" y="40142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5"/>
                </a:solidFill>
              </a:rPr>
              <a:t>08_Archive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482328" y="4014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FF4D"/>
                </a:solidFill>
              </a:rPr>
              <a:t>Obsoletos bloqueados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0488" y="4434840"/>
            <a:ext cx="5029200" cy="1"/>
          </a:xfrm>
          <a:prstGeom prst="line">
            <a:avLst/>
          </a:prstGeom>
          <a:noFill/>
          <a:ln w="12700">
            <a:solidFill>
              <a:srgbClr val="3340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777240" y="5440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F7F5"/>
                </a:solidFill>
              </a:rPr>
              <a:t>Nombre: EVCSE_[activo]_[variante]_[versión]_[AAAAMMDD].ext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63D2E"/>
                </a:solidFill>
              </a:rPr>
              <a:t>LIBERACIÓN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7110D"/>
                </a:solidFill>
              </a:rPr>
              <a:t>Checklist obligatorio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2A27"/>
                </a:solidFill>
              </a:rPr>
              <a:t>Una pieza solo se publica cuando cumple marca, contenido, accesibilidad y producción.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" y="189280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188720" y="1874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Logo autorizado y legible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6208" y="1892808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675120" y="18745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Color y contraste correctos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2606040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188720" y="25877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Jerarquía tipográfica consistente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2606040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0" y="258775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Mensaje alineado con Tiempo de Valor™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9808" y="3319272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188720" y="33009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Derechos de imágenes documentados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6208" y="3319272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675120" y="330098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Accesibilidad validada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" y="4032504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188720" y="40142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Datos y claims comprobables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4032504"/>
            <a:ext cx="256032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63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675120" y="40142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07110D"/>
                </a:solidFill>
              </a:rPr>
              <a:t>Fuente y exportación archivadas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54406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10D"/>
                </a:solidFill>
              </a:rPr>
              <a:t>Aprobación final: Brand Owner o delegado formal.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063D2E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FF4D"/>
                </a:solidFill>
              </a:rPr>
              <a:t>CONTROL TÉCNICO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68096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5F7F5"/>
                </a:solidFill>
              </a:rPr>
              <a:t>Notas de implementación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5544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2BD"/>
                </a:solidFill>
              </a:rPr>
              <a:t>Transparencia para producción profesional.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50292" cy="2286000"/>
          </a:xfrm>
          <a:prstGeom prst="rect">
            <a:avLst/>
          </a:prstGeom>
          <a:solidFill>
            <a:srgbClr val="00FF4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14400" y="22951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VECTOR MAESTRO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66090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Los PNG incluidos sirven como referencia visual. Para fabricación, registro y gran formato deben sustituirse por SVG/AI/EPS aprobados.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07408" y="214884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407408" y="2148840"/>
            <a:ext cx="50292" cy="2286000"/>
          </a:xfrm>
          <a:prstGeom prst="rect">
            <a:avLst/>
          </a:prstGeom>
          <a:solidFill>
            <a:srgbClr val="00CD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90288" y="22951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PANTONE / MATERIALES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90288" y="266090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Definir en prueba física con proveedor, perfil ICC, iluminación y sustrato real.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83296" y="2148840"/>
            <a:ext cx="3383280" cy="2286000"/>
          </a:xfrm>
          <a:prstGeom prst="roundRect">
            <a:avLst/>
          </a:prstGeom>
          <a:solidFill>
            <a:srgbClr val="242A27"/>
          </a:solidFill>
          <a:ln w="12700">
            <a:solidFill>
              <a:srgbClr val="3A45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8083296" y="2148840"/>
            <a:ext cx="50292" cy="2286000"/>
          </a:xfrm>
          <a:prstGeom prst="rect">
            <a:avLst/>
          </a:prstGeom>
          <a:solidFill>
            <a:srgbClr val="1499E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266176" y="2295144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5F7F5"/>
                </a:solidFill>
              </a:rPr>
              <a:t>MARCAS ™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66176" y="2660904"/>
            <a:ext cx="3035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B9C2BD"/>
                </a:solidFill>
              </a:rPr>
              <a:t>Tiempo de Valor™ y demás denominaciones requieren revisión jurídica antes de reclamar exclusividad.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52120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5"/>
                </a:solidFill>
              </a:rPr>
              <a:t>Este manual es definitivo como estándar de uso; los archivos maestros de producción forman parte inseparable del sistema.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47104"/>
            <a:ext cx="18288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9C2B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0FF4D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576072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600" b="1">
                <a:solidFill>
                  <a:srgbClr val="F5F7F5"/>
                </a:solidFill>
                <a:latin typeface="Aptos"/>
              </a:rPr>
              <a:t>Aplicaciones de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971800"/>
            <a:ext cx="566928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0">
                <a:solidFill>
                  <a:srgbClr val="B9C2BD"/>
                </a:solidFill>
                <a:latin typeface="Aptos"/>
              </a:rPr>
              <a:t>Mockups maestros para demostrar cómo EVCSE vive en espacios, equipos, personas, movilidad y hospitality.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4434840"/>
            <a:ext cx="1463040" cy="3200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4709160"/>
            <a:ext cx="34747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RENDERS VISUALES CONCEPTUALES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5029200"/>
            <a:ext cx="566928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B9C2BD"/>
                </a:solidFill>
                <a:latin typeface="Aptos"/>
              </a:rPr>
              <a:t>Las aplicaciones muestran dirección de arte y uso de marca. La fabricación final debe utilizar archivos maestros oficiales.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d9a4c0d5db.png"/>
          <p:cNvPicPr>
            <a:picLocks noChangeAspect="1"/>
          </p:cNvPicPr>
          <p:nvPr/>
        </p:nvPicPr>
        <p:blipFill>
          <a:blip r:embed="rId3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Recepción corporativa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Marca aplicada a arquitectura interior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Logo dimensional, materialidad Deep/Graphite y Energy Line de forma contenida.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e32438a137.png"/>
          <p:cNvPicPr>
            <a:picLocks noChangeAspect="1"/>
          </p:cNvPicPr>
          <p:nvPr/>
        </p:nvPicPr>
        <p:blipFill>
          <a:blip r:embed="rId3"/>
          <a:srcRect l="17876" r="17876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Hospitality interior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Experiencia física y permanencia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Lounge, coffee y coworking traducen Tiempo de Valor™ a una experiencia tangible.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4215b8ae24.png"/>
          <p:cNvPicPr>
            <a:picLocks noChangeAspect="1"/>
          </p:cNvPicPr>
          <p:nvPr/>
        </p:nvPicPr>
        <p:blipFill>
          <a:blip r:embed="rId3"/>
          <a:srcRect l="17550" r="17550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Experience Hub · fachada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Arquitectura de marca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Fachada premium útil: alta legibilidad, Energy Green como señal y entorno humano.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2d8d3ef006.png"/>
          <p:cNvPicPr>
            <a:picLocks noChangeAspect="1"/>
          </p:cNvPicPr>
          <p:nvPr/>
        </p:nvPicPr>
        <p:blipFill>
          <a:blip r:embed="rId3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Experience Hub · estación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Carga integrada con experiencia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La infraestructura se integra a la hospitalidad y no compite visualmente con ella.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453d93ec8c.png"/>
          <p:cNvPicPr>
            <a:picLocks noChangeAspect="1"/>
          </p:cNvPicPr>
          <p:nvPr/>
        </p:nvPicPr>
        <p:blipFill>
          <a:blip r:embed="rId3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Estación de carga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Wayfinding y plazas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Número de plaza, disponibilidad y servicios deben entenderse antes de bajar del vehículo.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aeff13a5ed.png"/>
          <p:cNvPicPr>
            <a:picLocks noChangeAspect="1"/>
          </p:cNvPicPr>
          <p:nvPr/>
        </p:nvPicPr>
        <p:blipFill>
          <a:blip r:embed="rId3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Cargador EVCSE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Equipo y señalización funcional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Deep + Energy Green. Branding contenido; la interfaz y el estado conservan prioridad.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5fa40a3b5d.png"/>
          <p:cNvPicPr>
            <a:picLocks noChangeAspect="1"/>
          </p:cNvPicPr>
          <p:nvPr/>
        </p:nvPicPr>
        <p:blipFill>
          <a:blip r:embed="rId3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Uniformes EVCSE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Marca en personas y operación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Prendas sobrias, logo flat y aplicaciones consistentes para hospitality y operación.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ecf5015dad.png"/>
          <p:cNvPicPr>
            <a:picLocks noChangeAspect="1"/>
          </p:cNvPicPr>
          <p:nvPr/>
        </p:nvPicPr>
        <p:blipFill>
          <a:blip r:embed="rId3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Tótem + Wayfinding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Orientación exterior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La señalización funciona como beacon: guía primero, comunica marca segundo.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20900f2826.png"/>
          <p:cNvPicPr>
            <a:picLocks noChangeAspect="1"/>
          </p:cNvPicPr>
          <p:nvPr/>
        </p:nvPicPr>
        <p:blipFill>
          <a:blip r:embed="rId3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Vehículos corporativos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Movilidad de la marca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Aplicación contenida sobre Deep; Energy Line aporta continuidad sin convertir el vehículo en valla.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803d569afd.png"/>
          <p:cNvPicPr>
            <a:picLocks noChangeAspect="1"/>
          </p:cNvPicPr>
          <p:nvPr/>
        </p:nvPicPr>
        <p:blipFill>
          <a:blip r:embed="rId3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Hospitality · objetos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Sistema de contacto físico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Isotipo y mensajes breves viven en objetos cotidianos sin saturar la experiencia.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9d3a2dc10d.png"/>
          <p:cNvPicPr>
            <a:picLocks noChangeAspect="1"/>
          </p:cNvPicPr>
          <p:nvPr/>
        </p:nvPicPr>
        <p:blipFill>
          <a:blip r:embed="rId3"/>
          <a:srcRect l="17550" r="17550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Coffee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Hospitality en contexto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El sistema se extiende a café, mesa y señalización manteniendo una presencia premium y útil.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5d9188a17f.png"/>
          <p:cNvPicPr>
            <a:picLocks noChangeAspect="1"/>
          </p:cNvPicPr>
          <p:nvPr/>
        </p:nvPicPr>
        <p:blipFill>
          <a:blip r:embed="rId3"/>
          <a:srcRect l="12313" r="12313"/>
          <a:stretch>
            <a:fillRect/>
          </a:stretch>
        </p:blipFill>
        <p:spPr>
          <a:xfrm>
            <a:off x="4828032" y="0"/>
            <a:ext cx="7360920" cy="65105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983480" cy="6510528"/>
          </a:xfrm>
          <a:prstGeom prst="rect">
            <a:avLst/>
          </a:prstGeom>
          <a:solidFill>
            <a:srgbClr val="0711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475488"/>
            <a:ext cx="1920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0" b="1">
                <a:solidFill>
                  <a:srgbClr val="00FF4D"/>
                </a:solidFill>
                <a:latin typeface="Aptos"/>
              </a:rPr>
              <a:t>APLICACIÓN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859536"/>
            <a:ext cx="388620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900" b="1">
                <a:solidFill>
                  <a:srgbClr val="F5F7F5"/>
                </a:solidFill>
                <a:latin typeface="Aptos"/>
              </a:rPr>
              <a:t>Ecosistema de aplicaciones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1901952"/>
            <a:ext cx="35661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0FF4D"/>
                </a:solidFill>
                <a:latin typeface="Aptos"/>
              </a:rPr>
              <a:t>Compilado visual de marca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359152"/>
            <a:ext cx="37033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B9C2BD"/>
                </a:solidFill>
                <a:latin typeface="Aptos"/>
              </a:rPr>
              <a:t>La identidad se mantiene consistente entre espacio, movilidad, producto, prendas y comunicación.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83133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Marca integrada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433425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Premium útil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837176"/>
            <a:ext cx="109728" cy="109728"/>
          </a:xfrm>
          <a:prstGeom prst="ellipse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2560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F5F7F5"/>
                </a:solidFill>
                <a:latin typeface="Aptos"/>
              </a:rPr>
              <a:t>Verde con intención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5742432"/>
            <a:ext cx="3886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1">
                <a:solidFill>
                  <a:srgbClr val="B9C2BD"/>
                </a:solidFill>
                <a:latin typeface="Aptos"/>
              </a:rPr>
              <a:t>VISUAL CONCEPTUAL · REFERENCIA DE APLICACIÓN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11338560" cy="9144"/>
          </a:xfrm>
          <a:prstGeom prst="rect">
            <a:avLst/>
          </a:prstGeom>
          <a:solidFill>
            <a:srgbClr val="00F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6583680"/>
            <a:ext cx="3657600" cy="1280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00" b="0">
                <a:solidFill>
                  <a:srgbClr val="B9C2BD"/>
                </a:solidFill>
                <a:latin typeface="Aptos"/>
              </a:rPr>
              <a:t>EVCSE  |  BRAND STANDARDS 2.5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Collage_EVCSE_01_Espacios_Infraestru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Collage_EVCSE_02_Carga_Orient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4" descr="Collage_EVCSE_03_Personas_Hospit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WhatsApp Image 2026-09-23 at 11.40.36 AM.jpeg"/>
          <p:cNvPicPr>
            <a:picLocks noChangeAspect="1"/>
          </p:cNvPicPr>
          <p:nvPr/>
        </p:nvPicPr>
        <p:blipFill>
          <a:blip r:embed="rId3"/>
          <a:srcRect l="7488" r="7488"/>
          <a:stretch/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20840" y="0"/>
            <a:ext cx="5468112" cy="6858000"/>
          </a:xfrm>
          <a:prstGeom prst="rect">
            <a:avLst/>
          </a:prstGeom>
          <a:solidFill>
            <a:srgbClr val="07110D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658368" y="685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FF4D"/>
                </a:solidFill>
              </a:rPr>
              <a:t>MANIFIESTO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5F7F5"/>
                </a:solidFill>
              </a:rPr>
              <a:t>La movilidad eléctrica merece algo más que infraestructura.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85800" y="29260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B9C2BD"/>
                </a:solidFill>
              </a:rPr>
              <a:t>Diseñamos espacios, servicios y tecnología que convierten la espera en oportunidad.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58368" y="4709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0FF4D"/>
                </a:solidFill>
              </a:rPr>
              <a:t>Tu vehículo carga.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00FF4D"/>
                </a:solidFill>
              </a:rPr>
              <a:t>Tú avanzas.</a:t>
            </a:r>
            <a:endParaRPr lang="en-US" sz="3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7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Designer (1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982980"/>
            <a:ext cx="4251960" cy="4251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50292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spc="100" dirty="0">
                <a:solidFill>
                  <a:srgbClr val="F5F7F5"/>
                </a:solidFill>
              </a:rPr>
              <a:t>RECUPEREMOS EL TIEMPO.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3794760" y="5806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60" dirty="0">
                <a:solidFill>
                  <a:srgbClr val="B9C2BD"/>
                </a:solidFill>
              </a:rPr>
              <a:t>EVCSE · BRAND STANDARDS 2.5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na">
  <a:themeElements>
    <a:clrScheme name="Duna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777</TotalTime>
  <Words>3454</Words>
  <Application>Microsoft Macintosh PowerPoint</Application>
  <PresentationFormat>Panorámica</PresentationFormat>
  <Paragraphs>905</Paragraphs>
  <Slides>63</Slides>
  <Notes>62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63</vt:i4>
      </vt:variant>
    </vt:vector>
  </HeadingPairs>
  <TitlesOfParts>
    <vt:vector size="68" baseType="lpstr">
      <vt:lpstr>Aptos</vt:lpstr>
      <vt:lpstr>Arial</vt:lpstr>
      <vt:lpstr>Liberation Serif</vt:lpstr>
      <vt:lpstr>Neue Haas Grotesk Text Pro</vt:lpstr>
      <vt:lpstr>Duna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EVCSE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EVCSE Brand Standards 2.3</dc:title>
  <dc:subject>Manual técnico definitivo de implementación</dc:subject>
  <dc:creator>Jose Mercado</dc:creator>
  <cp:lastModifiedBy>Jose Mercado</cp:lastModifiedBy>
  <cp:revision>5</cp:revision>
  <dcterms:created xsi:type="dcterms:W3CDTF">2026-10-12T00:14:37Z</dcterms:created>
  <dcterms:modified xsi:type="dcterms:W3CDTF">2026-10-12T15:11:41Z</dcterms:modified>
</cp:coreProperties>
</file>