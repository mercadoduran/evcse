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Compilado adaptado a partir de Designer.pdf proporcionado por EVCSE.
- Logotipos y visuales proporcionados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Logotipos proporcionados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Visuales proporcionados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"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38560" cy="0"/>
          </a:xfrm>
          <a:prstGeom prst="line">
            <a:avLst/>
          </a:prstGeom>
          <a:noFill/>
          <a:ln w="12700">
            <a:solidFill>
              <a:srgbClr val="00F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65392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80" dirty="0">
                <a:solidFill>
                  <a:srgbClr val="B9C2BD"/>
                </a:solidFill>
              </a:rPr>
              <a:t>EVCSE  |  BRAND STANDARDS 2.4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38560" cy="0"/>
          </a:xfrm>
          <a:prstGeom prst="line">
            <a:avLst/>
          </a:prstGeom>
          <a:noFill/>
          <a:ln w="12700">
            <a:solidFill>
              <a:srgbClr val="063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65392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80" dirty="0">
                <a:solidFill>
                  <a:srgbClr val="063D2E"/>
                </a:solidFill>
              </a:rPr>
              <a:t>EVCSE  |  BRAND STANDARDS 2.4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t="7802" b="7802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0D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07110D">
              <a:alpha val="9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594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5F7F5"/>
                </a:solidFill>
              </a:rPr>
              <a:t>EVCSE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58368" y="1143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80" dirty="0">
                <a:solidFill>
                  <a:srgbClr val="00FF4D"/>
                </a:solidFill>
              </a:rPr>
              <a:t>BRAND STANDARDS 2.4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5F7F5"/>
                </a:solidFill>
              </a:rPr>
              <a:t>Manual técnico definitivo de implementación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58368" y="3657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Logo · color · tipografía · digital · espacios · comunicación · gobierno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" y="48006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5F7F5"/>
                </a:solidFill>
              </a:rPr>
              <a:t>OCTUBRE 2026 · COLOMBIA / LATINOAMÉRICA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USO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Alcance y autoridad del manual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Documento rector para proveedores, equipos internos, aliados y operadores.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31720"/>
            <a:ext cx="50292" cy="22860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OBLIGATORIO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Logo, color, tipografía, accesibilidad y nomenclatura.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331720"/>
            <a:ext cx="50292" cy="22860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APLICABLE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App, web, documentos, señalización, arquitectura y campañas.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331720"/>
            <a:ext cx="50292" cy="228600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CONTROLADO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Toda excepción requiere aprobación y registro.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52578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Principio maestro: la consistencia convierte la marca en un activo acumulativo.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CONTENIDO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Arquitectura del estándar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Siete bloques: estrategia, logo, color, sistema visual, digital, físico y gobierno.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01 Fundamentos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862072"/>
            <a:ext cx="210312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02152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02 Logo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02152" y="2862072"/>
            <a:ext cx="2103120" cy="1"/>
          </a:xfrm>
          <a:prstGeom prst="line">
            <a:avLst/>
          </a:prstGeom>
          <a:noFill/>
          <a:ln w="25400">
            <a:solidFill>
              <a:srgbClr val="00CD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03 Color y tipografía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18504" y="2862072"/>
            <a:ext cx="210312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34856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04 Sistema visual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34856" y="2862072"/>
            <a:ext cx="2103120" cy="1"/>
          </a:xfrm>
          <a:prstGeom prst="line">
            <a:avLst/>
          </a:prstGeom>
          <a:noFill/>
          <a:ln w="25400">
            <a:solidFill>
              <a:srgbClr val="00CD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03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C2BD"/>
                </a:solidFill>
              </a:rPr>
              <a:t>05 Digital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4233672"/>
            <a:ext cx="210312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3703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C2BD"/>
                </a:solidFill>
              </a:rPr>
              <a:t>06 Espacios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02152" y="4233672"/>
            <a:ext cx="2103120" cy="1"/>
          </a:xfrm>
          <a:prstGeom prst="line">
            <a:avLst/>
          </a:prstGeom>
          <a:noFill/>
          <a:ln w="25400">
            <a:solidFill>
              <a:srgbClr val="00CD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3703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C2BD"/>
                </a:solidFill>
              </a:rPr>
              <a:t>07 Gobierno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18504" y="4233672"/>
            <a:ext cx="210312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COMPILADO DE MARCA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EVCSE Brand Overview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Vista ejecutiva del sistema visual, verbal y experiencial.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2971800" cy="187452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</p:sp>
      <p:pic>
        <p:nvPicPr>
          <p:cNvPr id="6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1993392"/>
            <a:ext cx="1481328" cy="1481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4015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kern="0" spc="120" dirty="0">
                <a:solidFill>
                  <a:srgbClr val="B9C2BD"/>
                </a:solidFill>
              </a:rPr>
              <a:t>LOGO PRINCIPAL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3840480" y="1901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PALETA OFICIAL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840480" y="2286000"/>
            <a:ext cx="960120" cy="658368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22192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DEEP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3822192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#07110D</a:t>
            </a:r>
            <a:endParaRPr lang="en-US" sz="500" dirty="0"/>
          </a:p>
        </p:txBody>
      </p:sp>
      <p:sp>
        <p:nvSpPr>
          <p:cNvPr id="12" name="Shape 9"/>
          <p:cNvSpPr/>
          <p:nvPr/>
        </p:nvSpPr>
        <p:spPr>
          <a:xfrm>
            <a:off x="5065776" y="2286000"/>
            <a:ext cx="960120" cy="658368"/>
          </a:xfrm>
          <a:prstGeom prst="roundRect">
            <a:avLst/>
          </a:prstGeom>
          <a:solidFill>
            <a:srgbClr val="00FF4D"/>
          </a:solidFill>
          <a:ln w="12700">
            <a:solidFill>
              <a:srgbClr val="00FF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47488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ENERGY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5047488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#00FF4D</a:t>
            </a:r>
            <a:endParaRPr lang="en-US" sz="500" dirty="0"/>
          </a:p>
        </p:txBody>
      </p:sp>
      <p:sp>
        <p:nvSpPr>
          <p:cNvPr id="15" name="Shape 12"/>
          <p:cNvSpPr/>
          <p:nvPr/>
        </p:nvSpPr>
        <p:spPr>
          <a:xfrm>
            <a:off x="6291072" y="2286000"/>
            <a:ext cx="960120" cy="658368"/>
          </a:xfrm>
          <a:prstGeom prst="roundRect">
            <a:avLst/>
          </a:prstGeom>
          <a:solidFill>
            <a:srgbClr val="063D2E"/>
          </a:solidFill>
          <a:ln w="12700">
            <a:solidFill>
              <a:srgbClr val="063D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72784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FOREST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6272784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#063D2E</a:t>
            </a:r>
            <a:endParaRPr lang="en-US" sz="500" dirty="0"/>
          </a:p>
        </p:txBody>
      </p:sp>
      <p:sp>
        <p:nvSpPr>
          <p:cNvPr id="18" name="Shape 15"/>
          <p:cNvSpPr/>
          <p:nvPr/>
        </p:nvSpPr>
        <p:spPr>
          <a:xfrm>
            <a:off x="7516368" y="2286000"/>
            <a:ext cx="960120" cy="658368"/>
          </a:xfrm>
          <a:prstGeom prst="roundRect">
            <a:avLst/>
          </a:prstGeom>
          <a:solidFill>
            <a:srgbClr val="F5F7F5"/>
          </a:solidFill>
          <a:ln w="12700">
            <a:solidFill>
              <a:srgbClr val="D8DF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0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CLOUD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7498080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#F5F7F5</a:t>
            </a:r>
            <a:endParaRPr lang="en-US" sz="500" dirty="0"/>
          </a:p>
        </p:txBody>
      </p:sp>
      <p:sp>
        <p:nvSpPr>
          <p:cNvPr id="21" name="Shape 18"/>
          <p:cNvSpPr/>
          <p:nvPr/>
        </p:nvSpPr>
        <p:spPr>
          <a:xfrm>
            <a:off x="8741664" y="2286000"/>
            <a:ext cx="960120" cy="6583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242A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23376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GRAPHITE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8723376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#242A27</a:t>
            </a:r>
            <a:endParaRPr lang="en-US" sz="500" dirty="0"/>
          </a:p>
        </p:txBody>
      </p:sp>
      <p:sp>
        <p:nvSpPr>
          <p:cNvPr id="24" name="Shape 21"/>
          <p:cNvSpPr/>
          <p:nvPr/>
        </p:nvSpPr>
        <p:spPr>
          <a:xfrm>
            <a:off x="9966960" y="2286000"/>
            <a:ext cx="960120" cy="658368"/>
          </a:xfrm>
          <a:prstGeom prst="roundRect">
            <a:avLst/>
          </a:prstGeom>
          <a:solidFill>
            <a:srgbClr val="B9C2BD"/>
          </a:solidFill>
          <a:ln w="12700">
            <a:solidFill>
              <a:srgbClr val="B9C2B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948672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SILVER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9948672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#B9C2BD</a:t>
            </a:r>
            <a:endParaRPr lang="en-US" sz="500" dirty="0"/>
          </a:p>
        </p:txBody>
      </p:sp>
      <p:sp>
        <p:nvSpPr>
          <p:cNvPr id="27" name="Shape 24"/>
          <p:cNvSpPr/>
          <p:nvPr/>
        </p:nvSpPr>
        <p:spPr>
          <a:xfrm>
            <a:off x="594360" y="3977640"/>
            <a:ext cx="2971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4360" y="3977640"/>
            <a:ext cx="50292" cy="123444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412394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TIPOGRAFÍA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77240" y="4489704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Sora: marca y titulares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Inter: interfaz, texto y datos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840480" y="3977640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840480" y="3977640"/>
            <a:ext cx="50292" cy="123444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023360" y="412394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VOZ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4023360" y="4489704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Breve · humana · segura · inteligente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Personas → experiencia → beneficio → tecnología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680960" y="3977640"/>
            <a:ext cx="39136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680960" y="3977640"/>
            <a:ext cx="50292" cy="123444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63840" y="4123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PROMESA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7863840" y="448970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Transformamos el tiempo de carga en tiempo de valor.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Tu vehículo carga. Tú avanzas.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94360" y="5440680"/>
            <a:ext cx="11000232" cy="64008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1248" y="5614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00FF4D"/>
                </a:solidFill>
              </a:rPr>
              <a:t>APP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755648" y="5605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F5F7F5"/>
                </a:solidFill>
              </a:rPr>
              <a:t>Reserva · carga · Members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3584448" y="5614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00FF4D"/>
                </a:solidFill>
              </a:rPr>
              <a:t>WEB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4498848" y="5605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F5F7F5"/>
                </a:solidFill>
              </a:rPr>
              <a:t>Experiencia · estaciones · negocio</a:t>
            </a:r>
            <a:endParaRPr lang="en-US" sz="650" dirty="0"/>
          </a:p>
        </p:txBody>
      </p:sp>
      <p:sp>
        <p:nvSpPr>
          <p:cNvPr id="44" name="Text 41"/>
          <p:cNvSpPr/>
          <p:nvPr/>
        </p:nvSpPr>
        <p:spPr>
          <a:xfrm>
            <a:off x="6327648" y="5614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00FF4D"/>
                </a:solidFill>
              </a:rPr>
              <a:t>HUB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7242048" y="5605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F5F7F5"/>
                </a:solidFill>
              </a:rPr>
              <a:t>Wayfinding · Work · Pause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9070848" y="5614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00FF4D"/>
                </a:solidFill>
              </a:rPr>
              <a:t>COMUNICACIÓN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9985248" y="5605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F5F7F5"/>
                </a:solidFill>
              </a:rPr>
              <a:t>Tiempo de Valor™</a:t>
            </a:r>
            <a:endParaRPr lang="en-US" sz="65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REGLAS DE USO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Cómo elegir la versión correcta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versión responde al fondo, al tamaño y al método de producción.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2560320" cy="24231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240280"/>
            <a:ext cx="50292" cy="242316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865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1. ¿FONDO?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752344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Oscuro → Hero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Claro → Institucional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3429000"/>
            <a:ext cx="201168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11296" y="2240280"/>
            <a:ext cx="2560320" cy="24231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11296" y="2240280"/>
            <a:ext cx="50292" cy="242316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94176" y="23865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2. ¿TAMAÑO?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94176" y="2752344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Grande → Logo completo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Pequeño → Isotipo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3429000"/>
            <a:ext cx="201168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64224" y="2240280"/>
            <a:ext cx="2560320" cy="24231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64224" y="2240280"/>
            <a:ext cx="50292" cy="242316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23865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3. ¿PRODUCCIÓN?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47104" y="2752344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Digital → Gradiente/flat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Una tinta → Monocromo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79408" y="3429000"/>
            <a:ext cx="201168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217152" y="2240280"/>
            <a:ext cx="2560320" cy="24231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17152" y="2240280"/>
            <a:ext cx="50292" cy="2423160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00032" y="23865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4. ¿CONTEXTO?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400032" y="2752344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Marca → Sin claim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Campaña → Claim separado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5"/>
                </a:solidFill>
              </a:rPr>
              <a:t>Regla de oro: nunca reconstruir, recolorear o integrar mensajes dentro del archivo de logo.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FONDOS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Contraste y versiones permitidas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Elegir la versión por legibilidad, no por preferencia estética.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560320" cy="233172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2514600"/>
            <a:ext cx="914400" cy="914400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7F5"/>
                </a:solidFill>
              </a:rPr>
              <a:t>DEEP / GRAPHITE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" y="40050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B9C2BD"/>
                </a:solidFill>
              </a:rPr>
              <a:t>Logo Hero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9C2BD"/>
                </a:solidFill>
              </a:rPr>
              <a:t>Gradiente + Cloud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11296" y="2148840"/>
            <a:ext cx="2560320" cy="2331720"/>
          </a:xfrm>
          <a:prstGeom prst="roundRect">
            <a:avLst/>
          </a:prstGeom>
          <a:solidFill>
            <a:srgbClr val="F5F7F5"/>
          </a:solidFill>
          <a:ln w="12700">
            <a:solidFill>
              <a:srgbClr val="D8DF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4256" y="2514600"/>
            <a:ext cx="914400" cy="914400"/>
          </a:xfrm>
          <a:prstGeom prst="ellipse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4176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0D"/>
                </a:solidFill>
              </a:rPr>
              <a:t>CLOUD / BLANCO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85616" y="40050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Institucional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Gradiente + Deep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364224" y="2148840"/>
            <a:ext cx="2560320" cy="23317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242A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87184" y="2514600"/>
            <a:ext cx="914400" cy="914400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7F5"/>
                </a:solidFill>
              </a:rPr>
              <a:t>FOTOGRAFÍA OSCURA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38544" y="40050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B9C2BD"/>
                </a:solidFill>
              </a:rPr>
              <a:t>Logo claro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9C2BD"/>
                </a:solidFill>
              </a:rPr>
              <a:t>con área limpia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217152" y="2148840"/>
            <a:ext cx="2560320" cy="2331720"/>
          </a:xfrm>
          <a:prstGeom prst="roundRect">
            <a:avLst/>
          </a:prstGeom>
          <a:solidFill>
            <a:srgbClr val="D8DEDA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40112" y="2514600"/>
            <a:ext cx="914400" cy="914400"/>
          </a:xfrm>
          <a:prstGeom prst="ellipse">
            <a:avLst/>
          </a:prstGeom>
          <a:solidFill>
            <a:srgbClr val="07110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0032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0D"/>
                </a:solidFill>
              </a:rPr>
              <a:t>UNA TINTA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491472" y="40050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Monocromo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Deep o Cloud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" y="51663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10D"/>
                </a:solidFill>
              </a:rPr>
              <a:t>No usar el gradiente sobre fondos con bajo contraste o colores que compitan con el isotipo.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JERARQUÍA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Logo, descriptor y claim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firma identifica. El descriptor clasifica. El claim comunica.</a:t>
            </a:r>
            <a:endParaRPr lang="en-US" sz="1250" dirty="0"/>
          </a:p>
        </p:txBody>
      </p:sp>
      <p:pic>
        <p:nvPicPr>
          <p:cNvPr id="5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57400"/>
            <a:ext cx="329184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0" y="1965960"/>
            <a:ext cx="6263640" cy="74980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0" y="1965960"/>
            <a:ext cx="50292" cy="74980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0" y="2112264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LOGO MAESTRO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754880" y="2478024"/>
            <a:ext cx="5916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Isotipo + EVCSE. Uso preferente.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0" y="2898648"/>
            <a:ext cx="6263640" cy="74980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2898648"/>
            <a:ext cx="50292" cy="74980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3044952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DESCRIPTOR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754880" y="3410712"/>
            <a:ext cx="5916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EXPERIENCE NETWORK. Solo cuando se necesite contexto.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0" y="3831336"/>
            <a:ext cx="6263640" cy="74980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3831336"/>
            <a:ext cx="50292" cy="74980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3977640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CLAIM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754880" y="4343400"/>
            <a:ext cx="5916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“Tu vehículo carga. Tú avanzas.” Siempre separado del logo.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0" y="4764024"/>
            <a:ext cx="6263640" cy="74980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0" y="4764024"/>
            <a:ext cx="50292" cy="749808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4910328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SUBMARCAS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754880" y="5276088"/>
            <a:ext cx="5916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EVCSE domina; la unidad funciona como descriptor.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0" y="5715000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7F5"/>
                </a:solidFill>
              </a:rPr>
              <a:t>El descriptor nunca debe competir con EVCSE. El claim nunca forma parte permanente del lockup.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CONTROL DE LOGO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Checklist antes de publicar o fabricar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Una verificación de 30 segundos evita la mayoría de deformaciones de marca.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" y="18928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Archivo maestro autorizado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6208" y="18928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Versión adecuada al fondo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262432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6060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Área de seguridad respetada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262432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6060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Tamaño mínimo cumplido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9808" y="335584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3375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Contraste suficiente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6208" y="335584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33375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Sin sombras, glow o 3D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408736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0690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Sin alterar proporciones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408736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40690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Claim separado del logo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Si una respuesta es “no”, la aplicación no está lista para liberación.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l="22004" r="22004"/>
          <a:stretch/>
        </p:blipFill>
        <p:spPr>
          <a:xfrm>
            <a:off x="6720840" y="0"/>
            <a:ext cx="546811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Fundamentos de marca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La carga habilita. La experiencia diferencia. El tiempo es el territorio.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NÚCLEO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Arquitectura conceptual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Cada expresión cumple una función definida.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MARCA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331720" y="184708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EVCSE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76856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328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CATEGORÍA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31720" y="250545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Experience Network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935224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1912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DEFINICIÓN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31720" y="316382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Energy Experience Platform™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593592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496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TERRITORIO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31720" y="38221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Tiempo de Valor™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079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PROMESA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31720" y="44805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7110D"/>
                </a:solidFill>
              </a:rPr>
              <a:t>Transformamos el tiempo de carga en tiempo de valor.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4910328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166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PLATAFORMA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331720" y="5138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7110D"/>
                </a:solidFill>
              </a:rPr>
              <a:t>Tu vehículo carga. Tú avanzas.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5568696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PERSONALIDAD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Premium útil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calidad se demuestra funcionando bien, no aparentando lujo.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383280" cy="23317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31720"/>
            <a:ext cx="50292" cy="233172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SOMOS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843784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Humanos · precisos · confiables · cercanos · contemporáneos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383280" cy="23317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331720"/>
            <a:ext cx="50292" cy="233172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NUNCA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843784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Estridentes · fríos · industriales · pretenciosos · técnicos primero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383280" cy="23317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331720"/>
            <a:ext cx="50292" cy="233172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PRINCIPIO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2843784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Personas → experiencia → beneficio → tecnología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Designer (11).png"/>
          <p:cNvPicPr>
            <a:picLocks noChangeAspect="1"/>
          </p:cNvPicPr>
          <p:nvPr/>
        </p:nvPicPr>
        <p:blipFill>
          <a:blip r:embed="rId3"/>
          <a:srcRect l="8006" r="8006"/>
          <a:stretch/>
        </p:blipFill>
        <p:spPr>
          <a:xfrm>
            <a:off x="6720840" y="0"/>
            <a:ext cx="546811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02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Sistema de logo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Una geometría para conexión, energía, continuidad y avance.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ANATOMÍA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El símbolo EVCSE 2.0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La E abstracta conecta energía y movimiento.</a:t>
            </a:r>
            <a:endParaRPr lang="en-US" sz="1250" dirty="0"/>
          </a:p>
        </p:txBody>
      </p:sp>
      <p:pic>
        <p:nvPicPr>
          <p:cNvPr id="5" name="Image 0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874520"/>
            <a:ext cx="4069080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57800" y="1874520"/>
            <a:ext cx="5577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57800" y="1874520"/>
            <a:ext cx="50292" cy="74980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40680" y="2020824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CÍRCULO ABIERTO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40680" y="2386584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Continuidad y avance.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257800" y="2807208"/>
            <a:ext cx="5577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2807208"/>
            <a:ext cx="50292" cy="74980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40680" y="2953512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TRAZO INTERIOR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40680" y="3319272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Conexión activa.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257800" y="3739896"/>
            <a:ext cx="5577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57800" y="3739896"/>
            <a:ext cx="50292" cy="74980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3886200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 ABSTRACTA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40680" y="4251960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Energy · Experience · Ecosystem.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257800" y="4672584"/>
            <a:ext cx="5577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57800" y="4672584"/>
            <a:ext cx="50292" cy="749808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40680" y="481888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APERTURA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40680" y="5184648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La carga no detiene el recorrido.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VERSIONES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Configuraciones autorizadas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geometría nunca cambia; el contexto define la versión.</a:t>
            </a:r>
            <a:endParaRPr lang="en-US" sz="1250" dirty="0"/>
          </a:p>
        </p:txBody>
      </p:sp>
      <p:pic>
        <p:nvPicPr>
          <p:cNvPr id="5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48840"/>
            <a:ext cx="3246120" cy="3246120"/>
          </a:xfrm>
          <a:prstGeom prst="rect">
            <a:avLst/>
          </a:prstGeom>
        </p:spPr>
      </p:pic>
      <p:pic>
        <p:nvPicPr>
          <p:cNvPr id="6" name="Image 1" descr="/mnt/data/Designer (1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148840"/>
            <a:ext cx="3246120" cy="3246120"/>
          </a:xfrm>
          <a:prstGeom prst="rect">
            <a:avLst/>
          </a:prstGeom>
        </p:spPr>
      </p:pic>
      <p:pic>
        <p:nvPicPr>
          <p:cNvPr id="7" name="Image 2" descr="/mnt/data/Designer (13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446020"/>
            <a:ext cx="2560320" cy="2560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5577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9C2BD"/>
                </a:solidFill>
              </a:rPr>
              <a:t>Hero oscuro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937760" y="5577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9C2BD"/>
                </a:solidFill>
              </a:rPr>
              <a:t>Institucional claro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8823960" y="5577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9C2BD"/>
                </a:solidFill>
              </a:rPr>
              <a:t>Isotipo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PRODUCCIÓN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Matriz de versiones autorizadas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Usar archivos maestros. Nunca redibujar ni reconstruir el wordmark.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P-01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Hero oscuro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3320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Gradiente + Cloud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63640" y="18745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Digital · fachada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6771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146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P-02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54480" y="2514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Institucional claro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3320" y="2514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Gradiente + Deep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25146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Documentos · Business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90779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546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P-03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54480" y="3154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Flat oscuro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03320" y="3154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Energy Green + Cloud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31546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UI · señal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4787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7947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M-01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54480" y="3794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Monocromo oscuro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03320" y="3794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Deep 100%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7947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Grabado · una tinta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18795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4348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M-02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54480" y="4434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Monocromo claro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03320" y="4434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Cloud 100%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44348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Fondo oscuro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82803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0749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I-01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54480" y="5074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Isotipo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03320" y="5074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Gradiente / flat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50749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App · favicon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546811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74243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110D"/>
                </a:solidFill>
              </a:rPr>
              <a:t>EVCSE_[versión]_[color]_[orientación]_[fecha].ext</a:t>
            </a:r>
            <a:endParaRPr lang="en-US" sz="12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PROTECCIÓN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Área de seguridad y tamaño mínimo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Valores operativos hasta sustituirlos por medidas del vector maestro.</a:t>
            </a:r>
            <a:endParaRPr lang="en-US" sz="1250" dirty="0"/>
          </a:p>
        </p:txBody>
      </p:sp>
      <p:pic>
        <p:nvPicPr>
          <p:cNvPr id="5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011680"/>
            <a:ext cx="352044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20240"/>
            <a:ext cx="4343400" cy="37033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FF4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15000" y="2194560"/>
            <a:ext cx="2468880" cy="13716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0" y="2194560"/>
            <a:ext cx="50292" cy="13716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234086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DIGITAL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897880" y="2706624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Isotipo ≥ 24 px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Logo ≥ 96 px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503920" y="2194560"/>
            <a:ext cx="2468880" cy="13716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03920" y="2194560"/>
            <a:ext cx="50292" cy="13716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0" y="234086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IMPRESO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686800" y="2706624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Isotipo ≥ 10 mm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Logo ≥ 32 mm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0" y="416052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9C2BD"/>
                </a:solidFill>
              </a:rPr>
              <a:t>Área X: mínimo una terminación del isotipo alrededor de toda la firma.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RESPONSIVO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Una firma adecuada para cada escala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No reducir el logo completo cuando el contexto exige simplificación.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331720"/>
            <a:ext cx="50292" cy="224028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478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≥ 320 px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843784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Logo + descriptor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11296" y="23317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2331720"/>
            <a:ext cx="50292" cy="224028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4176" y="2478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160–319 px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94176" y="2843784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Logo sin descriptor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64224" y="23317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4224" y="2331720"/>
            <a:ext cx="50292" cy="224028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2478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32–159 px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47104" y="2843784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Isotipo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17152" y="23317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17152" y="2331720"/>
            <a:ext cx="50292" cy="2240280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0032" y="2478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16–31 px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400032" y="2843784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Microicono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51663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10D"/>
                </a:solidFill>
              </a:rPr>
              <a:t>Validar siempre la legibilidad en el soporte real.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INTEGRIDAD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Usos prohibidos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Cada regla se demuestra visualmente. Las muestras siguientes nunca deben reproducirse.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3504" y="20574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493008" y="20574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02736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82512" y="20574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272016" y="20574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81744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3504" y="38862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493008" y="38862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382512" y="38862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272016" y="38862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81744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pic>
        <p:nvPicPr>
          <p:cNvPr id="21" name="Image 0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286000"/>
            <a:ext cx="1554480" cy="5029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23544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DISTORSIONAR</a:t>
            </a:r>
            <a:endParaRPr lang="en-US" sz="750" dirty="0"/>
          </a:p>
        </p:txBody>
      </p:sp>
      <p:pic>
        <p:nvPicPr>
          <p:cNvPr id="23" name="Image 1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80000">
            <a:off x="4389120" y="2240280"/>
            <a:ext cx="868680" cy="8686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813048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ROTAR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7315200" y="2286000"/>
            <a:ext cx="804672" cy="804672"/>
          </a:xfrm>
          <a:prstGeom prst="ellipse">
            <a:avLst/>
          </a:prstGeom>
          <a:solidFill>
            <a:srgbClr val="FF2A9D"/>
          </a:solidFill>
          <a:ln w="12700">
            <a:solidFill>
              <a:srgbClr val="FF2A9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543800" y="247802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E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6702552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RECOLOREAR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9957816" y="2039112"/>
            <a:ext cx="1325880" cy="1325880"/>
          </a:xfrm>
          <a:prstGeom prst="ellipse">
            <a:avLst/>
          </a:prstGeom>
          <a:solidFill>
            <a:srgbClr val="00FF4D">
              <a:alpha val="3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9" name="Image 2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2286000"/>
            <a:ext cx="822960" cy="8229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592056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AÑADIR GLOW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1627632" y="4233672"/>
            <a:ext cx="868680" cy="868680"/>
          </a:xfrm>
          <a:prstGeom prst="ellipse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2" name="Image 3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4069080"/>
            <a:ext cx="868680" cy="8686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77824" y="50840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AÑADIR SOMBRAS</a:t>
            </a:r>
            <a:endParaRPr lang="en-US" sz="750" dirty="0"/>
          </a:p>
        </p:txBody>
      </p:sp>
      <p:pic>
        <p:nvPicPr>
          <p:cNvPr id="34" name="Image 4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8" y="4160520"/>
            <a:ext cx="713232" cy="7132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453128" y="43251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5F7F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EVCSE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3721608" y="50840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5F7F5"/>
                </a:solidFill>
              </a:rPr>
              <a:t>NO CAMBIAR WORDMARK</a:t>
            </a:r>
            <a:endParaRPr lang="en-US" sz="730" dirty="0"/>
          </a:p>
        </p:txBody>
      </p:sp>
      <p:sp>
        <p:nvSpPr>
          <p:cNvPr id="37" name="Shape 30"/>
          <p:cNvSpPr/>
          <p:nvPr/>
        </p:nvSpPr>
        <p:spPr>
          <a:xfrm>
            <a:off x="6793992" y="4069080"/>
            <a:ext cx="1828800" cy="914400"/>
          </a:xfrm>
          <a:prstGeom prst="rect">
            <a:avLst/>
          </a:prstGeom>
          <a:solidFill>
            <a:srgbClr val="4A565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8" name="Image 5" descr="/mnt/data/Designer (13)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296912" y="4133088"/>
            <a:ext cx="786384" cy="7863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11112" y="50840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5F7F5"/>
                </a:solidFill>
              </a:rPr>
              <a:t>NO USAR SIN CONTRASTE</a:t>
            </a:r>
            <a:endParaRPr lang="en-US" sz="720" dirty="0"/>
          </a:p>
        </p:txBody>
      </p:sp>
      <p:pic>
        <p:nvPicPr>
          <p:cNvPr id="40" name="Image 6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056" y="4114800"/>
            <a:ext cx="713232" cy="7132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0186416" y="41970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5"/>
                </a:solidFill>
              </a:rPr>
              <a:t>EVCSE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10186416" y="45262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00FF4D"/>
                </a:solidFill>
              </a:rPr>
              <a:t>TU VEHÍCULO CARGA. TÚ AVANZAS.</a:t>
            </a:r>
            <a:endParaRPr lang="en-US" sz="550" dirty="0"/>
          </a:p>
        </p:txBody>
      </p:sp>
      <p:sp>
        <p:nvSpPr>
          <p:cNvPr id="43" name="Text 34"/>
          <p:cNvSpPr/>
          <p:nvPr/>
        </p:nvSpPr>
        <p:spPr>
          <a:xfrm>
            <a:off x="9546336" y="50840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5F7F5"/>
                </a:solidFill>
              </a:rPr>
              <a:t>NO INTEGRAR EL CLAIM</a:t>
            </a:r>
            <a:endParaRPr lang="en-US" sz="740" dirty="0"/>
          </a:p>
        </p:txBody>
      </p:sp>
      <p:sp>
        <p:nvSpPr>
          <p:cNvPr id="44" name="Text 35"/>
          <p:cNvSpPr/>
          <p:nvPr/>
        </p:nvSpPr>
        <p:spPr>
          <a:xfrm>
            <a:off x="777240" y="58064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9C2BD"/>
                </a:solidFill>
              </a:rPr>
              <a:t>Usar exclusivamente las versiones maestras y mantener el claim como elemento independiente.</a:t>
            </a:r>
            <a:endParaRPr lang="en-US" sz="12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.jpeg"/>
          <p:cNvPicPr>
            <a:picLocks noChangeAspect="1"/>
          </p:cNvPicPr>
          <p:nvPr/>
        </p:nvPicPr>
        <p:blipFill>
          <a:blip r:embed="rId3"/>
          <a:srcRect l="5219" r="5219"/>
          <a:stretch/>
        </p:blipFill>
        <p:spPr>
          <a:xfrm>
            <a:off x="6720840" y="0"/>
            <a:ext cx="546811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03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Color y tipografía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Un sistema preciso para energía, confianza, humanidad y tecnología.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COLOR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Paleta oficial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Cada color cumple una función semántica.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1572768" cy="146304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DEEP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#07110D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Confianza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2148840"/>
            <a:ext cx="1572768" cy="1463040"/>
          </a:xfrm>
          <a:prstGeom prst="roundRect">
            <a:avLst/>
          </a:prstGeom>
          <a:solidFill>
            <a:srgbClr val="00FF4D"/>
          </a:solidFill>
          <a:ln w="12700">
            <a:solidFill>
              <a:srgbClr val="00F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ENERGY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0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#00FF4D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60320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Acción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62272" y="2148840"/>
            <a:ext cx="1572768" cy="1463040"/>
          </a:xfrm>
          <a:prstGeom prst="roundRect">
            <a:avLst/>
          </a:prstGeom>
          <a:solidFill>
            <a:srgbClr val="063D2E"/>
          </a:solidFill>
          <a:ln w="12700">
            <a:solidFill>
              <a:srgbClr val="063D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FOREST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62272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#063D2E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62272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Institución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64224" y="2148840"/>
            <a:ext cx="1572768" cy="1463040"/>
          </a:xfrm>
          <a:prstGeom prst="roundRect">
            <a:avLst/>
          </a:prstGeom>
          <a:solidFill>
            <a:srgbClr val="F5F7F5"/>
          </a:solidFill>
          <a:ln w="12700">
            <a:solidFill>
              <a:srgbClr val="D8DF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4224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CLOUD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64224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#F5F7F5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64224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Humanidad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66176" y="2148840"/>
            <a:ext cx="1572768" cy="146304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242A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66176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GRAPHITE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66176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#242A27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66176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Superficie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68128" y="2148840"/>
            <a:ext cx="1572768" cy="1463040"/>
          </a:xfrm>
          <a:prstGeom prst="roundRect">
            <a:avLst/>
          </a:prstGeom>
          <a:solidFill>
            <a:srgbClr val="B9C2BD"/>
          </a:solidFill>
          <a:ln w="12700">
            <a:solidFill>
              <a:srgbClr val="B9C2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68128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SILVER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168128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#B9C2BD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168128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Información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724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El verde no decora. El verde significa que algo está sucediendo.</a:t>
            </a:r>
            <a:endParaRPr lang="en-US" sz="17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GESTIÓN DE COLOR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Valores por medio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CMYK es aproximado. La producción física requiere prueba y perfil ICC.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FF4D"/>
                </a:solidFill>
              </a:rPr>
              <a:t>COLOR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FF4D"/>
                </a:solidFill>
              </a:rPr>
              <a:t>HEX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FF4D"/>
                </a:solidFill>
              </a:rPr>
              <a:t>RGB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FF4D"/>
                </a:solidFill>
              </a:rPr>
              <a:t>CMYK APROX.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EVCSE Deep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242316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#07110D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242316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7,17,13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242316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59,0,24,93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94436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Energy Green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29443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#00FF4D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294436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0,255,77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29443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100,0,70,0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46557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EVCSE Forest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34655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#063D2E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346557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6,61,46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346557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90,0,25,76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98678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EVCSE Cloud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398678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#F5F7F5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3986784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245,247,245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398678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1,0,1,3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50799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Graphite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450799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#242A27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450799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36,42,39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450799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14,0,7,84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502920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Silver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0" y="502920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#B9C2BD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502920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185,194,189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502920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5,0,3,24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5715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7F5"/>
                </a:solidFill>
              </a:rPr>
              <a:t>Acabados: mate o satinado. Evitar brillo excesivo sobre superficies Deep.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ACCESIBILIDAD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Contraste y estados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El color nunca es el único portador de información.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Cloud / Deep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Texto principal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1488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Deep / Cloud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Modo claro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2752" y="21488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Energy / Deep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85632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Acción y señal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5204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Energy / Cloud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No usar en texto pequeño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5204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Estados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Color + texto + icono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02752" y="35204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Objetivo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WCAG 2.2 AA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TIPOGRAFÍA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Sora + Inter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Marca y producto comparten una jerarquía clara.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Display XL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0" y="1874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Bold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0" y="18745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48–64 pt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258568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048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H1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0" y="24048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Bold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0" y="24048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32–40 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352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H2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0" y="29352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Semibold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0" y="29352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24–30 pt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319272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65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H3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0" y="34655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Medium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0" y="34655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18–22 pt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849624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9959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Body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0" y="39959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Inter Regular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0" y="3995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10–16 pt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4379976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526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Label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0" y="45262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Inter Medium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0" y="4526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8–12 pt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" y="4910328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056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4D"/>
                </a:solidFill>
              </a:rPr>
              <a:t>Numerical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0" y="5056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Bold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0" y="5056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32–72 pt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" y="5440680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7607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5"/>
                </a:solidFill>
              </a:rPr>
              <a:t>Interlineado: títulos 100–110% · cuerpo 135–150% · interfaz 120–140%.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Sistema visual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Códigos reconocibles incluso cuando el logo no aparece.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CÓDIGOS PROPIETARIOS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Energy Line + Value Clock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La energía continúa; los minutos se convierten en oportunidades.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3657600" cy="2011680"/>
          </a:xfrm>
          <a:prstGeom prst="arc">
            <a:avLst/>
          </a:prstGeom>
          <a:solidFill>
            <a:srgbClr val="000000">
              <a:alpha val="0"/>
            </a:srgbClr>
          </a:solidFill>
          <a:ln w="101600">
            <a:solidFill>
              <a:srgbClr val="00FF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ENERGY LINE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0" y="2057400"/>
            <a:ext cx="2560320" cy="2560320"/>
          </a:xfrm>
          <a:prstGeom prst="ellipse">
            <a:avLst/>
          </a:prstGeom>
          <a:solidFill>
            <a:srgbClr val="000000">
              <a:alpha val="0"/>
            </a:srgbClr>
          </a:solidFill>
          <a:ln w="177800">
            <a:solidFill>
              <a:srgbClr val="D5DD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27249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7110D"/>
                </a:solidFill>
              </a:rPr>
              <a:t>24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995160" y="3401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10D"/>
                </a:solidFill>
              </a:rPr>
              <a:t>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VALUE CLOCK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COMPOSICIÓN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Grid y espaciado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Un sistema de 8 puntos mantiene ritmo entre medios.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713232" cy="2286000"/>
          </a:xfrm>
          <a:prstGeom prst="rect">
            <a:avLst/>
          </a:prstGeom>
          <a:solidFill>
            <a:srgbClr val="26342E"/>
          </a:solidFill>
          <a:ln w="6350">
            <a:solidFill>
              <a:srgbClr val="3B4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91056" y="2011680"/>
            <a:ext cx="713232" cy="2286000"/>
          </a:xfrm>
          <a:prstGeom prst="rect">
            <a:avLst/>
          </a:prstGeom>
          <a:solidFill>
            <a:srgbClr val="1D2924"/>
          </a:solidFill>
          <a:ln w="6350">
            <a:solidFill>
              <a:srgbClr val="3B4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96312" y="2011680"/>
            <a:ext cx="713232" cy="2286000"/>
          </a:xfrm>
          <a:prstGeom prst="rect">
            <a:avLst/>
          </a:prstGeom>
          <a:solidFill>
            <a:srgbClr val="26342E"/>
          </a:solidFill>
          <a:ln w="6350">
            <a:solidFill>
              <a:srgbClr val="3B4A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2011680"/>
            <a:ext cx="713232" cy="2286000"/>
          </a:xfrm>
          <a:prstGeom prst="rect">
            <a:avLst/>
          </a:prstGeom>
          <a:solidFill>
            <a:srgbClr val="1D2924"/>
          </a:solidFill>
          <a:ln w="6350">
            <a:solidFill>
              <a:srgbClr val="3B4A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06824" y="2011680"/>
            <a:ext cx="713232" cy="2286000"/>
          </a:xfrm>
          <a:prstGeom prst="rect">
            <a:avLst/>
          </a:prstGeom>
          <a:solidFill>
            <a:srgbClr val="26342E"/>
          </a:solidFill>
          <a:ln w="6350">
            <a:solidFill>
              <a:srgbClr val="3B4A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2011680"/>
            <a:ext cx="713232" cy="2286000"/>
          </a:xfrm>
          <a:prstGeom prst="rect">
            <a:avLst/>
          </a:prstGeom>
          <a:solidFill>
            <a:srgbClr val="1D2924"/>
          </a:solidFill>
          <a:ln w="6350">
            <a:solidFill>
              <a:srgbClr val="3B4A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17336" y="2011680"/>
            <a:ext cx="713232" cy="2286000"/>
          </a:xfrm>
          <a:prstGeom prst="rect">
            <a:avLst/>
          </a:prstGeom>
          <a:solidFill>
            <a:srgbClr val="26342E"/>
          </a:solidFill>
          <a:ln w="6350">
            <a:solidFill>
              <a:srgbClr val="3B4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22592" y="2011680"/>
            <a:ext cx="713232" cy="2286000"/>
          </a:xfrm>
          <a:prstGeom prst="rect">
            <a:avLst/>
          </a:prstGeom>
          <a:solidFill>
            <a:srgbClr val="1D2924"/>
          </a:solidFill>
          <a:ln w="6350">
            <a:solidFill>
              <a:srgbClr val="3B4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27848" y="2011680"/>
            <a:ext cx="713232" cy="2286000"/>
          </a:xfrm>
          <a:prstGeom prst="rect">
            <a:avLst/>
          </a:prstGeom>
          <a:solidFill>
            <a:srgbClr val="26342E"/>
          </a:solidFill>
          <a:ln w="6350">
            <a:solidFill>
              <a:srgbClr val="3B4A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33104" y="2011680"/>
            <a:ext cx="713232" cy="2286000"/>
          </a:xfrm>
          <a:prstGeom prst="rect">
            <a:avLst/>
          </a:prstGeom>
          <a:solidFill>
            <a:srgbClr val="1D2924"/>
          </a:solidFill>
          <a:ln w="6350">
            <a:solidFill>
              <a:srgbClr val="3B4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38360" y="2011680"/>
            <a:ext cx="713232" cy="2286000"/>
          </a:xfrm>
          <a:prstGeom prst="rect">
            <a:avLst/>
          </a:prstGeom>
          <a:solidFill>
            <a:srgbClr val="26342E"/>
          </a:solidFill>
          <a:ln w="6350">
            <a:solidFill>
              <a:srgbClr val="3B4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43616" y="2011680"/>
            <a:ext cx="713232" cy="2286000"/>
          </a:xfrm>
          <a:prstGeom prst="rect">
            <a:avLst/>
          </a:prstGeom>
          <a:solidFill>
            <a:srgbClr val="1D2924"/>
          </a:solidFill>
          <a:ln w="6350">
            <a:solidFill>
              <a:srgbClr val="3B4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26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FF4D"/>
                </a:solidFill>
              </a:rPr>
              <a:t>12 COLUMNAS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49560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5"/>
                </a:solidFill>
              </a:rPr>
              <a:t>Margen: 48–80 px · gutter: 16–24 px · baseline: 8 px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468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Escala: 4 / 8 / 12 / 16 / 24 / 32 / 48 / 64 / 96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ICONOGRAFÍA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Funcional y consistente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Los iconos explican acciones y estados; los mensajes críticos siempre llevan etiqueta.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Grid 24 × 24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1488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Stroke 1.5–2 px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2752" y="21488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85632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Terminal redondeada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5204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Ángulos coherentes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5204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05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Una tinta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02752" y="35204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06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Clear space 2 px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FOTOGRAFÍA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Life over hardware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70% vida y experiencia; 30% movilidad e infraestructura.</a:t>
            </a:r>
            <a:endParaRPr lang="en-US" sz="1250" dirty="0"/>
          </a:p>
        </p:txBody>
      </p:sp>
      <p:pic>
        <p:nvPicPr>
          <p:cNvPr id="5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t="8566" b="8566"/>
          <a:stretch/>
        </p:blipFill>
        <p:spPr>
          <a:xfrm>
            <a:off x="594360" y="1965960"/>
            <a:ext cx="6537960" cy="3611880"/>
          </a:xfrm>
          <a:prstGeom prst="rect">
            <a:avLst/>
          </a:prstGeom>
        </p:spPr>
      </p:pic>
      <p:pic>
        <p:nvPicPr>
          <p:cNvPr id="6" name="Image 1" descr="/mnt/data/WhatsApp Image 2026-09-23 at 11.40.36 AM.jpeg"/>
          <p:cNvPicPr>
            <a:picLocks noChangeAspect="1"/>
          </p:cNvPicPr>
          <p:nvPr/>
        </p:nvPicPr>
        <p:blipFill>
          <a:blip r:embed="rId4"/>
          <a:srcRect t="10170" b="10170"/>
          <a:stretch/>
        </p:blipFill>
        <p:spPr>
          <a:xfrm>
            <a:off x="7360920" y="1965960"/>
            <a:ext cx="4251960" cy="3611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4828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FF4D"/>
                </a:solidFill>
              </a:rPr>
              <a:t>70%</a:t>
            </a:r>
            <a:endParaRPr lang="en-US" sz="2900" dirty="0"/>
          </a:p>
        </p:txBody>
      </p:sp>
      <p:sp>
        <p:nvSpPr>
          <p:cNvPr id="8" name="Text 4"/>
          <p:cNvSpPr/>
          <p:nvPr/>
        </p:nvSpPr>
        <p:spPr>
          <a:xfrm>
            <a:off x="2011680" y="49926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F5F7F5"/>
                </a:solidFill>
              </a:rPr>
              <a:t>EXPERIENCIA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589520" y="4828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CDB8"/>
                </a:solidFill>
              </a:rPr>
              <a:t>30%</a:t>
            </a:r>
            <a:endParaRPr lang="en-US" sz="2900" dirty="0"/>
          </a:p>
        </p:txBody>
      </p:sp>
      <p:sp>
        <p:nvSpPr>
          <p:cNvPr id="10" name="Text 6"/>
          <p:cNvSpPr/>
          <p:nvPr/>
        </p:nvSpPr>
        <p:spPr>
          <a:xfrm>
            <a:off x="8778240" y="49926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F5F7F5"/>
                </a:solidFill>
              </a:rPr>
              <a:t>INFRAESTRUCTURA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MOTION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Energía que orienta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El movimiento explica estado y continuidad; nunca distrae.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MICRO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150–250 ms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1488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PANTALLA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250–450 ms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2752" y="21488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CURVA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85632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Ease-out entrada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5204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ENERGY LINE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Trazo continuo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5204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VALUE CLOCK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Progreso legible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02752" y="35204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REDUCED MOTION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Alternativa accesible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5257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Evitar rebotes, destellos y loops permanentes.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Experiencia digital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Una interfaz sencilla por delante y una plataforma sólida por detrás.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DESIGN SYSTEM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Tokens esenciales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Una fuente compartida entre diseño y desarrollo.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color.brand.energy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97764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#00FF4D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295144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874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color.surface.deep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50976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#07110D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295144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87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color.surface.graphite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77640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#242A27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008376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587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color.text.primary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509760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#F5F7F5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008376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009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radius.card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77640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16 px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721608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3009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space.base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509760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8 px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721608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014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motion.fast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77640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200 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434840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4014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stroke.icon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509760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2 px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4434840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ESTADOS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Un lenguaje compartido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App, web y estación deben expresar el mismo estado.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FF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9304" y="2724912"/>
            <a:ext cx="585216" cy="585216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DISPONIBLE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98648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7110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93592" y="2724912"/>
            <a:ext cx="585216" cy="585216"/>
          </a:xfrm>
          <a:prstGeom prst="ellipse">
            <a:avLst/>
          </a:prstGeom>
          <a:solidFill>
            <a:srgbClr val="07110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RESERVADO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02936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2724912"/>
            <a:ext cx="585216" cy="58521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85816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CARGANDO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07224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5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02168" y="2724912"/>
            <a:ext cx="585216" cy="585216"/>
          </a:xfrm>
          <a:prstGeom prst="ellipse">
            <a:avLst/>
          </a:prstGeom>
          <a:solidFill>
            <a:srgbClr val="FFB54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90104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ATENCIÓN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811512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C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06456" y="2724912"/>
            <a:ext cx="585216" cy="585216"/>
          </a:xfrm>
          <a:prstGeom prst="ellipse">
            <a:avLst/>
          </a:prstGeom>
          <a:solidFill>
            <a:srgbClr val="FF5C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94392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NO DISPONIBLE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516636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10D"/>
                </a:solidFill>
              </a:rPr>
              <a:t>Siempre: color + texto + icono o forma.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TIEMPO DE VALOR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Pantalla icónica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El producto no solo muestra cuánto falta; sugiere cómo aprovecharlo.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291840" cy="402336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242A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432304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FF4D"/>
                </a:solidFill>
              </a:rPr>
              <a:t>24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600200" y="3364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5"/>
                </a:solidFill>
              </a:rPr>
              <a:t>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977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5"/>
                </a:solidFill>
              </a:rPr>
              <a:t>Tu vehículo carga.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5F7F5"/>
                </a:solidFill>
              </a:rPr>
              <a:t>Tú avanzas.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00600" y="1965960"/>
            <a:ext cx="5943600" cy="768096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965960"/>
            <a:ext cx="50292" cy="768096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112264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CERTEZA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83480" y="2478024"/>
            <a:ext cx="5596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Disponibilidad antes de llegar.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2926080"/>
            <a:ext cx="5943600" cy="768096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2926080"/>
            <a:ext cx="50292" cy="768096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3072384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LIBERTAD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83480" y="3438144"/>
            <a:ext cx="5596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Elegir cómo usar el tiempo.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3886200"/>
            <a:ext cx="5943600" cy="768096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886200"/>
            <a:ext cx="50292" cy="76809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4032504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PROGRESO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83480" y="4398264"/>
            <a:ext cx="5596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Estado y autonomía.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4846320"/>
            <a:ext cx="5943600" cy="768096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4846320"/>
            <a:ext cx="50292" cy="768096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4992624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RECURRENCIA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83480" y="5358384"/>
            <a:ext cx="5596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Puntos y beneficios.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l="22004" r="22004"/>
          <a:stretch/>
        </p:blipFill>
        <p:spPr>
          <a:xfrm>
            <a:off x="6720840" y="0"/>
            <a:ext cx="546811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06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Experiencia física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La arquitectura convierte la promesa en una experiencia tangible.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WAYFINDING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Requisitos mínimos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Lectura inmediata desde el vehículo y mantenimiento sostenible.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65960"/>
            <a:ext cx="50292" cy="9144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12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CONTRASTE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478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Deep/Cloud + color funcional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65960"/>
            <a:ext cx="50292" cy="9144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112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DISTANCIA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2478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Dimensionar por velocidad y ángulo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3108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108960"/>
            <a:ext cx="50292" cy="9144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255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ILUMINACIÓN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" y="3621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Uniforme; sin deslumbramiento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3108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108960"/>
            <a:ext cx="50292" cy="9144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255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MATERIALES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3621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Exterior UV y anticorrosión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" y="4251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4251960"/>
            <a:ext cx="50292" cy="9144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398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ALTURA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" y="4764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Normativa y accesibilidad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4251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4251960"/>
            <a:ext cx="50292" cy="9144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398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ESTADOS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92240" y="4764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Color + texto + forma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5532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10D"/>
                </a:solidFill>
              </a:rPr>
              <a:t>Todo sitio requiere plano de wayfinding aprobado antes de fabricar.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MATERIALIDAD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Premium útil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ejecución y el mantenimiento pesan más que la ostentación.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SUPERFICIES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Mate o satinado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1488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VERDE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Beacon y estados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2752" y="21488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ILUMINACIÓN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85632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Neutra/cálida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5204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IMPRESIÓN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Prueba física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5204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BORDADO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Logo flat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5204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02752" y="35204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GRABADO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Monocromo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5257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5"/>
                </a:solidFill>
              </a:rPr>
              <a:t>Validar siempre sobre el sustrato real.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ZONAS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Nombrar por la acción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La señalización también comunica la promesa.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48840"/>
            <a:ext cx="50292" cy="11430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9514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WORK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66090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Tu trabajo continúa.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148840"/>
            <a:ext cx="50292" cy="11430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29514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PAUSE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46520" y="266090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Una pausa para avanzar.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56616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566160"/>
            <a:ext cx="50292" cy="114300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1246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CONNECT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407822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La energía conecta.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56616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566160"/>
            <a:ext cx="50292" cy="1143000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71246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COFFEE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46520" y="407822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Haz que los minutos valgan.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20240" y="525780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7110D"/>
                </a:solidFill>
              </a:rPr>
              <a:t>SIGUE AVANZANDO  →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07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Gobierno y producción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Una fuente única de verdad reduce caos, reprocesos y deformaciones.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CO-BRANDING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Jerarquía de convivencia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No crear una tercera marca híbrida.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31720"/>
            <a:ext cx="50292" cy="22860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EVCSE LEAD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EVCSE domina y el aliado avala.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331720"/>
            <a:ext cx="50292" cy="22860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EQUAL PARTNERS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Misma altura óptica y separador.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331720"/>
            <a:ext cx="50292" cy="228600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HOST LOCATION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El anfitrión domina; EVCSE identifica la experiencia.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GOBIERNO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Roles y aprobaciones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La marca se administra como un activo empresarial.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Brand Owner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71800" y="1874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Estrategia, aprobación y excepciones.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31343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06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Design Steward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71800" y="2606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Archivos, estándares y control de calidad.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04495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37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Product Owner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3337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Experiencia digital y tokens.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77647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69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Experience Owner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7180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Espacios, servicio y señalización.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50799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800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Partners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71800" y="4800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Ejecución bajo estándares aprobados.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23951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577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Toda excepción registra motivo, alcance, responsable y vigencia.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PAQUETE MAESTRO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Estructura y nomenclatura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Solo el repositorio oficial contiene fuentes vigentes.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01_Strategy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950208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PPTX · PDF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2295144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90488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02_Logos_Vector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482328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AI · SVG · EPS · PDF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0488" y="2295144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587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03_Logos_Raster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50208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PNG · WebP · 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3008376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2587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04_Fonts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482328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Archivos · licencias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0488" y="3008376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05_Templates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50208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PPTX · DOCX · Figma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3721608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06_Applications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482328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Digital · físico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0488" y="3721608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0142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07_Partners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50208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Co-branding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" y="4434840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40142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08_Archive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328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Obsoletos bloqueados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0488" y="4434840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440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7F5"/>
                </a:solidFill>
              </a:rPr>
              <a:t>Nombre: EVCSE_[activo]_[variante]_[versión]_[AAAAMMDD].ext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LIBERACIÓN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Checklist obligatorio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Una pieza solo se publica cuando cumple marca, contenido, accesibilidad y producción.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" y="18928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Logo autorizado y legible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6208" y="18928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Color y contraste correctos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2606040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5877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Jerarquía tipográfica consistente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2606040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5877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Mensaje alineado con Tiempo de Valor™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9808" y="3319272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3009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Derechos de imágenes documentados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6208" y="3319272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33009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Accesibilidad validada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4032504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0142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Datos y claims comprobables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4032504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40142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Fuente y exportación archivadas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54406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Aprobación final: Brand Owner o delegado formal.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CONTROL TÉCNICO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Notas de implementación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Transparencia para producción profesional.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48840"/>
            <a:ext cx="50292" cy="22860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951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VECTOR MAESTRO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66090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Los PNG incluidos sirven como referencia visual. Para fabricación, registro y gran formato deben sustituirse por SVG/AI/EPS aprobados.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07408" y="214884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2148840"/>
            <a:ext cx="50292" cy="22860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22951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PANTONE / MATERIALES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90288" y="266090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Definir en prueba física con proveedor, perfil ICC, iluminación y sustrato real.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83296" y="214884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3296" y="2148840"/>
            <a:ext cx="50292" cy="228600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6176" y="22951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MARCAS ™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66176" y="266090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Tiempo de Valor™ y demás denominaciones requieren revisión jurídica antes de reclamar exclusividad.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52120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5"/>
                </a:solidFill>
              </a:rPr>
              <a:t>Este manual es definitivo como estándar de uso; los archivos maestros de producción forman parte inseparable del sistema.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.jpeg"/>
          <p:cNvPicPr>
            <a:picLocks noChangeAspect="1"/>
          </p:cNvPicPr>
          <p:nvPr/>
        </p:nvPicPr>
        <p:blipFill>
          <a:blip r:embed="rId3"/>
          <a:srcRect l="7488" r="7488"/>
          <a:stretch/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858000"/>
          </a:xfrm>
          <a:prstGeom prst="rect">
            <a:avLst/>
          </a:prstGeom>
          <a:solidFill>
            <a:srgbClr val="07110D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85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F4D"/>
                </a:solidFill>
              </a:rPr>
              <a:t>MANIFIESTO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5F7F5"/>
                </a:solidFill>
              </a:rPr>
              <a:t>La movilidad eléctrica merece algo más que infraestructura.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85800" y="29260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B9C2BD"/>
                </a:solidFill>
              </a:rPr>
              <a:t>Diseñamos espacios, servicios y tecnología que convierten la espera en oportunidad.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58368" y="4709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FF4D"/>
                </a:solidFill>
              </a:rPr>
              <a:t>Tu vehículo carga.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00FF4D"/>
                </a:solidFill>
              </a:rPr>
              <a:t>Tú avanzas.</a:t>
            </a:r>
            <a:endParaRPr lang="en-US" sz="3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82980"/>
            <a:ext cx="4251960" cy="4251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50292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spc="100" dirty="0">
                <a:solidFill>
                  <a:srgbClr val="F5F7F5"/>
                </a:solidFill>
              </a:rPr>
              <a:t>RECUPEREMOS EL TIEMPO.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794760" y="5806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60" dirty="0">
                <a:solidFill>
                  <a:srgbClr val="B9C2BD"/>
                </a:solidFill>
              </a:rPr>
              <a:t>EVCSE · BRAND STANDARDS 2.4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45</Slides>
  <Notes>45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EVCSE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EVCSE Brand Standards 2.3</dc:title>
  <dc:subject>Manual técnico definitivo de implementación</dc:subject>
  <dc:creator>Jose Mercado</dc:creator>
  <cp:lastModifiedBy>Jose Mercado</cp:lastModifiedBy>
  <cp:revision>2</cp:revision>
  <dcterms:created xsi:type="dcterms:W3CDTF">2026-10-11T22:04:57Z</dcterms:created>
  <dcterms:modified xsi:type="dcterms:W3CDTF">2026-10-11T22:05:37Z</dcterms:modified>
</cp:coreProperties>
</file>