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01" r:id="rId29"/>
    <p:sldId id="283" r:id="rId30"/>
    <p:sldId id="284" r:id="rId31"/>
    <p:sldId id="302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08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Compilado adaptado a partir de Designer.pdf proporcionado por EVCSE.
- Logotipos y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5166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97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417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829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433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s-MX"/>
              <a:t>Haga clic para modificar los estilos de texto del patrón</a:t>
            </a:r>
          </a:p>
          <a:p>
            <a:pPr marL="228600" lvl="1" indent="-228600"/>
            <a:r>
              <a:rPr lang="es-MX"/>
              <a:t>Segundo nivel</a:t>
            </a:r>
          </a:p>
          <a:p>
            <a:pPr marL="228600" lvl="2" indent="-228600"/>
            <a:r>
              <a:rPr lang="es-MX"/>
              <a:t>Tercer nivel</a:t>
            </a:r>
          </a:p>
          <a:p>
            <a:pPr marL="228600" lvl="3" indent="-228600"/>
            <a:r>
              <a:rPr lang="es-MX"/>
              <a:t>Cuarto nivel</a:t>
            </a:r>
          </a:p>
          <a:p>
            <a:pPr marL="228600" lvl="4" indent="-228600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796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29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766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676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722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1658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12831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69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388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297011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362471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4166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5859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4557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0081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6264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277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2478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874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621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4327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2989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18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2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7802" b="7802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0D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7110D">
              <a:alpha val="9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5F7F5"/>
                </a:solidFill>
              </a:rPr>
              <a:t>EVCSE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80" dirty="0">
                <a:solidFill>
                  <a:srgbClr val="00FF4D"/>
                </a:solidFill>
              </a:rPr>
              <a:t>BRAND STANDARDS 2.5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5F7F5"/>
                </a:solidFill>
              </a:rPr>
              <a:t>Manual técnico definitivo de implementación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Logo · color · tipografía · digital · espacios · comunicación · gobierno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48006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5F7F5"/>
                </a:solidFill>
              </a:rPr>
              <a:t>OCTUBRE 2026 · COLOMBIA / LATINOAMÉRICA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Alcance y autoridad del manual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Documento rector para proveedores, equipos internos, aliados y operadores.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OBLIGATORIO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Logo, color, tipografía, accesibilidad y nomenclatura.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APLICABLE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App, web, documentos, señalización, arquitectura y campañas.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CONTROLADO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Toda excepción requiere aprobación y registro.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Principio maestro: la consistencia convierte la marca en un activo acumulativo.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CONTENIDO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Arquitectura del estándar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Siete bloques: estrategia, logo, color, sistema visual, digital, físico y gobierno.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01 Fundamentos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502152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02 Logo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02152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318504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03 Color y tipografía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18504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134856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04 Sistema visual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34856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05 Digital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502152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06 Espacios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02152" y="42336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318504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07 Gobierno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18504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COMPILADO DE MARCA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EVCSE Brand Overview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Vista ejecutiva del sistema visual, verbal y experiencial.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971800" cy="18745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993392"/>
            <a:ext cx="1481328" cy="1481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01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B9C2BD"/>
                </a:solidFill>
              </a:rPr>
              <a:t>LOGO PRINCIPAL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840480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PALETA OFICIAL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840480" y="2286000"/>
            <a:ext cx="960120" cy="658368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82219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DEEP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382219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#07110D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5065776" y="2286000"/>
            <a:ext cx="960120" cy="658368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047488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ENERGY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5047488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#00FF4D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6291072" y="2286000"/>
            <a:ext cx="960120" cy="658368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272784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FOREST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6272784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#063D2E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7516368" y="2286000"/>
            <a:ext cx="960120" cy="658368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7498080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CLOUD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7498080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#F5F7F5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8741664" y="2286000"/>
            <a:ext cx="960120" cy="6583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8723376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GRAPHITE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8723376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#242A27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9966960" y="2286000"/>
            <a:ext cx="960120" cy="658368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994867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SILVER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994867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#B9C2BD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594360" y="397764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594360" y="3977640"/>
            <a:ext cx="50292" cy="123444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777240" y="41239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TIPOGRAFÍA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77240" y="4489704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Sora: marca y titulares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Inter: interfaz, texto y datos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840480" y="39776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3840480" y="3977640"/>
            <a:ext cx="50292" cy="123444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4023360" y="41239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VOZ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023360" y="4489704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Breve · humana · segura · inteligente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680960" y="3977640"/>
            <a:ext cx="3913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3"/>
          <p:cNvSpPr/>
          <p:nvPr/>
        </p:nvSpPr>
        <p:spPr>
          <a:xfrm>
            <a:off x="7680960" y="3977640"/>
            <a:ext cx="50292" cy="123444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/>
          <p:nvPr/>
        </p:nvSpPr>
        <p:spPr>
          <a:xfrm>
            <a:off x="7863840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PROMESA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863840" y="44897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Transformamos el tiempo de carga en tiempo de valor.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vehículo carga. Tú avanzas.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4360" y="5440680"/>
            <a:ext cx="11000232" cy="6400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7"/>
          <p:cNvSpPr/>
          <p:nvPr/>
        </p:nvSpPr>
        <p:spPr>
          <a:xfrm>
            <a:off x="8412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APP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7556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Reserva · carga · Members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5844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WEB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44988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Experiencia · estaciones · negocio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63276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HUB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2420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Wayfinding · Work · Pause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90708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COMUNICACIÓN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99852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Tiempo de Valor™</a:t>
            </a:r>
            <a:endParaRPr lang="en-US" sz="6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REGLAS DE 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Cómo elegir la versión correcta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versión responde al fondo, al tamaño y al método de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50292" cy="2423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1. ¿FONDO?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Oscuro → Hero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Claro → Institucional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511296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511296" y="2240280"/>
            <a:ext cx="50292" cy="2423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94176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2. ¿TAMAÑO?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94176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Grande → Logo completo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Pequeño → Isotipo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364224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364224" y="2240280"/>
            <a:ext cx="50292" cy="24231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47104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3. ¿PRODUCCIÓN?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47104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Digital → Gradiente/flat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Una tinta → Monocromo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79408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9217152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217152" y="2240280"/>
            <a:ext cx="50292" cy="2423160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400032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4. ¿CONTEXTO?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00032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Marca → Sin claim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Campaña → Claim separado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Regla de oro: nunca reconstruir, recolorear o integrar mensajes dentro del archivo de logo.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FONDOS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versiones permitidas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Elegir la versión por legibilidad, no por preferencia estética.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0" cy="23317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481328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DEEP / GRAPHITE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Hero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Gradiente + Cloud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11296" y="2148840"/>
            <a:ext cx="2560320" cy="233172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334256" y="2514600"/>
            <a:ext cx="914400" cy="914400"/>
          </a:xfrm>
          <a:prstGeom prst="ellipse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94176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CLOUD / BLANCO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85616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Institucional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Gradiente + Deep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64224" y="2148840"/>
            <a:ext cx="256032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187184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47104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FOTOGRAFÍA OSCURA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claro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con área limpia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217152" y="2148840"/>
            <a:ext cx="2560320" cy="2331720"/>
          </a:xfrm>
          <a:prstGeom prst="roundRect">
            <a:avLst/>
          </a:prstGeom>
          <a:solidFill>
            <a:srgbClr val="D8DEDA"/>
          </a:solidFill>
          <a:ln w="12700">
            <a:solidFill>
              <a:srgbClr val="D8DE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040112" y="2514600"/>
            <a:ext cx="914400" cy="914400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400032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UNA TINTA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91472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Monocromo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Deep o Cloud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No usar el gradiente sobre fondos con bajo contraste o colores que compitan con el isotipo.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JERARQUÍA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Logo, descriptor y claim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firma identifica. El descriptor clasifica. El claim comunica.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32918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965960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0" y="1965960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754880" y="2112264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LOGO MAESTRO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54880" y="2478024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+ EVCSE. Uso preferente.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898648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572000" y="289864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754880" y="3044952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DESCRIPTOR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54880" y="3410712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EXPERIENCE NETWORK. Solo cuando se necesite contexto.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3831336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4572000" y="3831336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4754880" y="397764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CLAIM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54880" y="4343400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“Tu vehículo carga. Tú avanzas.” Siempre separado del logo.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4764024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572000" y="4764024"/>
            <a:ext cx="50292" cy="749808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4754880" y="4910328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SUBMARCAS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754880" y="5276088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domina; la unidad funciona como descriptor.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0" y="571500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7F5"/>
                </a:solidFill>
              </a:rPr>
              <a:t>El descriptor nunca debe competir con EVCSE. El claim nunca forma parte permanente del lockup.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CONTROL DE LOGO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antes de publicar o fabricar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verificación de 30 segundos evita la mayoría de deformaciones de marca.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Archivo maestro autorizado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Versión adecuada al fondo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Área de seguridad respetada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Tamaño mínimo cumplido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887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Contraste suficiente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751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sombras, glow o 3D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1887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alterar proporciones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6751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Claim separado del logo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Si una respuesta es “no”, la aplicación no está lista para liberación.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Fundamentos de marca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carga habilita. La experiencia diferencia. El tiempo es el territorio.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NÚCLEO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Arquitectura conceptual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expresión cumple una función definida.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MARCA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31720" y="18470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EVCSE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7685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CATEGORÍA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1720" y="250545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Experience Network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935224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31520" y="3191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316382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Energy Experience Platform™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593592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31520" y="38496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TERRITORIO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31720" y="3822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Tiempo de Valor™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1520" y="4507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PROMESA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Transformamos el tiempo de carga en tiempo de valor.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910328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PLATAFORMA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31720" y="5138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Tu vehículo carga. Tú avanzas.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56869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PERSONALIDAD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calidad se demuestra funcionando bien, no aparentando lujo.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33172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SOMOS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Humanos · precisos · confiables · cercanos · contemporáneos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33172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NUNCA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Estridentes · fríos · industriales · pretenciosos · técnicos primero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33172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PRINCIPIO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rcRect l="8006" r="8006"/>
          <a:stretch/>
        </p:blipFill>
        <p:spPr>
          <a:xfrm>
            <a:off x="6373368" y="173736"/>
            <a:ext cx="5468112" cy="6510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02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de logo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geometría para conexión, energía, continuidad y avance.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ANATOMÍA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El símbolo EVCSE 2.0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 abstracta conecta energía y movimiento.</a:t>
            </a:r>
            <a:endParaRPr lang="en-US" sz="1250" dirty="0"/>
          </a:p>
        </p:txBody>
      </p:sp>
      <p:pic>
        <p:nvPicPr>
          <p:cNvPr id="5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874520"/>
            <a:ext cx="406908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874520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257800" y="1874520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440680" y="202082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CÍRCULO ABIERTO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40680" y="2386584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Continuidad y avance.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2807208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5257800" y="280720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440680" y="2953512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TRAZO INTERIOR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40680" y="3319272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Conexión activa.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57800" y="3739896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257800" y="3739896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440680" y="388620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 ABSTRACTA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40680" y="4251960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Energy · Experience · Ecosystem.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57800" y="4672584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5257800" y="4672584"/>
            <a:ext cx="50292" cy="749808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5440680" y="48188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APERTURA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40680" y="5184648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carga no detiene el recorrido.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VERSIONES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Configuraciones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geometría nunca cambia; el contexto define la versión.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3246120" cy="3246120"/>
          </a:xfrm>
          <a:prstGeom prst="rect">
            <a:avLst/>
          </a:prstGeom>
        </p:spPr>
      </p:pic>
      <p:pic>
        <p:nvPicPr>
          <p:cNvPr id="6" name="Image 1" descr="/mnt/data/Designer (1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3246120" cy="3246120"/>
          </a:xfrm>
          <a:prstGeom prst="rect">
            <a:avLst/>
          </a:prstGeom>
        </p:spPr>
      </p:pic>
      <p:pic>
        <p:nvPicPr>
          <p:cNvPr id="7" name="Image 2" descr="/mnt/data/Designer (13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446020"/>
            <a:ext cx="2560320" cy="2560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Hero oscuro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9377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Institucional claro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8239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Isotipo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PRODUCCIÓN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Matriz de versiones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Usar archivos maestros. Nunca redibujar ni reconstruir el wordmark.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Hero oscuro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332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Cloud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18745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Digital · fachada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Institucional claro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Deep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514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Documentos · Business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Flat oscuro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Energy Green + Cloud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UI · señal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4787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794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oscuro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Deep 100%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794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Grabado · una tinta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18795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1520" y="4434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5448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claro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Cloud 100%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4434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Fondo oscuro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82803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31520" y="50749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I-01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5074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Isotipo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5074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/ flat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5074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App · favicon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4681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8229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110D"/>
                </a:solidFill>
              </a:rPr>
              <a:t>EVCSE_[versión]_[color]_[orientación]_[fecha].ext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PROTECCIÓN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Área de seguridad y tamaño mínimo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Valores operativos hasta sustituirlos por medidas del vector maestro.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11680"/>
            <a:ext cx="352044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4343400" cy="37033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71500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5715000" y="2194560"/>
            <a:ext cx="50292" cy="13716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89788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DIGITAL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9788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24 px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96 px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0392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8503920" y="2194560"/>
            <a:ext cx="50292" cy="13716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868680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10 mm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32 mm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41605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2BD"/>
                </a:solidFill>
              </a:rPr>
              <a:t>Área X: mínimo una terminación del isotipo alrededor de toda la firma.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RESPONSIVO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Una firma adecuada para cada escala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No reducir el logo completo cuando el contexto exige simplificación.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50292" cy="224028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≥ 320 px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+ descriptor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511296" y="2331720"/>
            <a:ext cx="50292" cy="224028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94176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160–319 px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94176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sin descriptor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4224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364224" y="2331720"/>
            <a:ext cx="50292" cy="224028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47104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32–159 px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47104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Isotipo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17152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9217152" y="2331720"/>
            <a:ext cx="50292" cy="224028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400032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16–31 px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400032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Microicono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Validar siempre la legibilidad en el soporte real.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INTEGRIDAD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Usos prohibidos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Cada regla se demuestra visualmente. Las muestras siguientes nunca deben reproducirse.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3504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13232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93008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02736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82512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9224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272016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381744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13232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493008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02736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82512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9224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272016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381744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pic>
        <p:nvPicPr>
          <p:cNvPr id="21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286000"/>
            <a:ext cx="155448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3544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DISTORSIONAR</a:t>
            </a:r>
            <a:endParaRPr lang="en-US" sz="750" dirty="0"/>
          </a:p>
        </p:txBody>
      </p:sp>
      <p:pic>
        <p:nvPicPr>
          <p:cNvPr id="23" name="Image 1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80000">
            <a:off x="4389120" y="2240280"/>
            <a:ext cx="868680" cy="8686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13048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ROTAR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7315200" y="2286000"/>
            <a:ext cx="804672" cy="804672"/>
          </a:xfrm>
          <a:prstGeom prst="ellipse">
            <a:avLst/>
          </a:prstGeom>
          <a:solidFill>
            <a:srgbClr val="FF2A9D"/>
          </a:solidFill>
          <a:ln w="12700">
            <a:solidFill>
              <a:srgbClr val="FF2A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7543800" y="24780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6702552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RECOLOREAR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9957816" y="2039112"/>
            <a:ext cx="1325880" cy="1325880"/>
          </a:xfrm>
          <a:prstGeom prst="ellipse">
            <a:avLst/>
          </a:prstGeom>
          <a:solidFill>
            <a:srgbClr val="00FF4D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2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2286000"/>
            <a:ext cx="822960" cy="8229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592056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GLOW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1627632" y="4233672"/>
            <a:ext cx="868680" cy="868680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3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4069080"/>
            <a:ext cx="868680" cy="8686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77824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SOMBRAS</a:t>
            </a:r>
            <a:endParaRPr lang="en-US" sz="750" dirty="0"/>
          </a:p>
        </p:txBody>
      </p:sp>
      <p:pic>
        <p:nvPicPr>
          <p:cNvPr id="34" name="Image 4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4160520"/>
            <a:ext cx="713232" cy="7132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453128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5F7F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EVCSE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3721608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5F7F5"/>
                </a:solidFill>
              </a:rPr>
              <a:t>NO CAMBIAR WORDMARK</a:t>
            </a:r>
            <a:endParaRPr lang="en-US" sz="730" dirty="0"/>
          </a:p>
        </p:txBody>
      </p:sp>
      <p:sp>
        <p:nvSpPr>
          <p:cNvPr id="37" name="Shape 30"/>
          <p:cNvSpPr/>
          <p:nvPr/>
        </p:nvSpPr>
        <p:spPr>
          <a:xfrm>
            <a:off x="6793992" y="4069080"/>
            <a:ext cx="1828800" cy="914400"/>
          </a:xfrm>
          <a:prstGeom prst="rect">
            <a:avLst/>
          </a:prstGeom>
          <a:solidFill>
            <a:srgbClr val="4A565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8" name="Image 5" descr="/mnt/data/Designer (13)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296912" y="4133088"/>
            <a:ext cx="786384" cy="7863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11112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F7F5"/>
                </a:solidFill>
              </a:rPr>
              <a:t>NO USAR SIN CONTRASTE</a:t>
            </a:r>
            <a:endParaRPr lang="en-US" sz="720" dirty="0"/>
          </a:p>
        </p:txBody>
      </p:sp>
      <p:pic>
        <p:nvPicPr>
          <p:cNvPr id="40" name="Image 6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6" y="4114800"/>
            <a:ext cx="713232" cy="7132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186416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5"/>
                </a:solidFill>
              </a:rPr>
              <a:t>EVCSE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10186416" y="4526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00FF4D"/>
                </a:solidFill>
              </a:rPr>
              <a:t>TU VEHÍCULO CARGA. TÚ AVANZAS.</a:t>
            </a:r>
            <a:endParaRPr lang="en-US" sz="550" dirty="0"/>
          </a:p>
        </p:txBody>
      </p:sp>
      <p:sp>
        <p:nvSpPr>
          <p:cNvPr id="43" name="Text 34"/>
          <p:cNvSpPr/>
          <p:nvPr/>
        </p:nvSpPr>
        <p:spPr>
          <a:xfrm>
            <a:off x="9546336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5F7F5"/>
                </a:solidFill>
              </a:rPr>
              <a:t>NO INTEGRAR EL CLAIM</a:t>
            </a:r>
            <a:endParaRPr lang="en-US" sz="740" dirty="0"/>
          </a:p>
        </p:txBody>
      </p:sp>
      <p:sp>
        <p:nvSpPr>
          <p:cNvPr id="44" name="Text 35"/>
          <p:cNvSpPr/>
          <p:nvPr/>
        </p:nvSpPr>
        <p:spPr>
          <a:xfrm>
            <a:off x="777240" y="5806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2BD"/>
                </a:solidFill>
              </a:rPr>
              <a:t>Usar exclusivamente las versiones maestras y mantener el claim como elemento independiente.</a:t>
            </a:r>
            <a:endParaRPr lang="en-US" sz="12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5219" r="5219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03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Color y tipografía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 sistema preciso para energía, confianza, humanidad y tecnología.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Paleta oficial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color cumple una función semántica.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1572768" cy="146304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5836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DEEP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#07110D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Confianza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148840"/>
            <a:ext cx="1572768" cy="1463040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0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ENERGY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0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#00FF4D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Acción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62272" y="2148840"/>
            <a:ext cx="1572768" cy="1463040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462272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FOREST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62272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#063D2E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Institución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64224" y="2148840"/>
            <a:ext cx="1572768" cy="146304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64224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CLOUD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64224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#F5F7F5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64224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Humanidad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66176" y="2148840"/>
            <a:ext cx="1572768" cy="146304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266176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GRAPHITE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66176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#242A27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66176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Superficie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68128" y="2148840"/>
            <a:ext cx="1572768" cy="1463040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16812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SILVER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6812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#B9C2BD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6812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Información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El verde no decora. El verde significa que algo está sucediendo.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GESTIÓN DE 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Valores por medio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CMYK es aproximado. La producción física requiere prueba y perfil ICC.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COLOR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HEX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RGB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CMYK APROX.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Deep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#07110D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24231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7,17,13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24231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59,0,24,93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Energy Green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9443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#00FF4D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9443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0,255,77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9443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100,0,70,0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Forest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4655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#063D2E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6,61,46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346557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90,0,25,76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9867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Cloud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9867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#F5F7F5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98678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245,247,245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98678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1,0,1,3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507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Graphite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5079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#242A27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5079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36,42,39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50799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14,0,7,84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0292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Silver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50292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#B9C2BD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50292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185,194,189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50292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5,0,3,24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Acabados: mate o satinado. Evitar brillo excesivo sobre superficies Deep.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ACCESIBILIDAD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estados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color nunca es el único portador de información.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Cloud / Deep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Texto principal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Deep / Cloud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Modo claro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Deep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Acción y señal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Cloud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 usar en texto pequeño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icono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Objetivo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WCAG 2.2 AA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TIPOGRAFÍA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Sora + Inter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Marca y producto comparten una jerarquía clara.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Display XL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874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48–64 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2404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32–40 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31520" y="2935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Semibold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935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24–30 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319272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3465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Medium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18–22 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849624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31520" y="39959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Body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39959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Regular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10–16 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379976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Label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0" y="4526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Medium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8–12 pt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491032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31520" y="5056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D"/>
                </a:solidFill>
              </a:rPr>
              <a:t>Numerical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5056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5056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32–72 pt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544068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31520" y="5760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5"/>
                </a:solidFill>
              </a:rPr>
              <a:t>Interlineado: títulos 100–110% · cuerpo 135–150% · interfaz 120–140%.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visual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Códigos reconocibles incluso cuando el logo no aparece.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CÓDIGOS PROPIETARIOS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Energy Line + Value Clock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energía continúa; los minutos se convierten en oportunidades.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39252" y="2532888"/>
            <a:ext cx="2560320" cy="2011680"/>
          </a:xfrm>
          <a:prstGeom prst="arc">
            <a:avLst>
              <a:gd name="adj1" fmla="val 16200000"/>
              <a:gd name="adj2" fmla="val 21507108"/>
            </a:avLst>
          </a:prstGeom>
          <a:solidFill>
            <a:srgbClr val="000000">
              <a:alpha val="0"/>
            </a:srgbClr>
          </a:solidFill>
          <a:ln w="1016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ENERGY 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43700" y="2327673"/>
            <a:ext cx="2240280" cy="2084832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903720" y="27249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7110D"/>
                </a:solidFill>
              </a:rPr>
              <a:t>24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99516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0D"/>
                </a:solidFill>
              </a:rPr>
              <a:t>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VALUE CLOCK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COMPOSICIÓN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Grid y espaciado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El grid decide dónde va cada elemento. El spacing define cuánto aire dejamos entre ellos.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MOBILE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984248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4 columnas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2304288"/>
            <a:ext cx="288036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582930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479042" y="2487168"/>
            <a:ext cx="582930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135124" y="2487168"/>
            <a:ext cx="582930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91206" y="2487168"/>
            <a:ext cx="582930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58368" y="37673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16–24 px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TABLET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57800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8 columnas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2304288"/>
            <a:ext cx="288036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096512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424553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752594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080635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408676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736717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064758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392799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931920" y="37673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32–48 px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205472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DESKTOP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31352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12 columnas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05472" y="2304288"/>
            <a:ext cx="429768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7370064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7706868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043672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8380476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8717280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9054084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9390888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9727692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10064496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10401300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10738104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11074908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7205472" y="37673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48–80 px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8368" y="4160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 dirty="0">
                <a:solidFill>
                  <a:srgbClr val="00FF4D"/>
                </a:solidFill>
              </a:rPr>
              <a:t>COMPOSICIONES DESKTOP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777240" y="4590288"/>
            <a:ext cx="1540764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2400300" y="4590288"/>
            <a:ext cx="1540764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5836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6 + 6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5312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4572000" y="4590288"/>
            <a:ext cx="1008888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5663184" y="4590288"/>
            <a:ext cx="1008888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6754368" y="4590288"/>
            <a:ext cx="1008888" cy="384048"/>
          </a:xfrm>
          <a:prstGeom prst="rect">
            <a:avLst/>
          </a:prstGeom>
          <a:solidFill>
            <a:srgbClr val="1499E8">
              <a:alpha val="65000"/>
            </a:srgbClr>
          </a:solidFill>
          <a:ln w="7620">
            <a:solidFill>
              <a:srgbClr val="1499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45312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4 + 4 + 4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24788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8366760" y="4590288"/>
            <a:ext cx="1008888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9457944" y="4590288"/>
            <a:ext cx="2072640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824788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4 + 8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8368" y="55778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0FF4D"/>
                </a:solidFill>
              </a:rPr>
              <a:t>ESCALA DE ESPACIADO · UNIDAD BASE 8 PX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60520" y="5559552"/>
            <a:ext cx="130683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4160520" y="5833872"/>
            <a:ext cx="1306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4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4455795" y="5559552"/>
            <a:ext cx="151638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4455795" y="5833872"/>
            <a:ext cx="1516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8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4772025" y="5559552"/>
            <a:ext cx="172593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4772025" y="5833872"/>
            <a:ext cx="1725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12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5109210" y="5559552"/>
            <a:ext cx="193548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5109210" y="5833872"/>
            <a:ext cx="1935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16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5467350" y="5559552"/>
            <a:ext cx="23545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5467350" y="5833872"/>
            <a:ext cx="2354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24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867400" y="5559552"/>
            <a:ext cx="27736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5867400" y="5833872"/>
            <a:ext cx="277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32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6309360" y="5559552"/>
            <a:ext cx="36118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6309360" y="5833872"/>
            <a:ext cx="3611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48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6835140" y="5559552"/>
            <a:ext cx="44500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6835140" y="5833872"/>
            <a:ext cx="445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64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444740" y="5559552"/>
            <a:ext cx="61264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7444740" y="5833872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96</a:t>
            </a:r>
            <a:endParaRPr lang="en-US" sz="550" dirty="0"/>
          </a:p>
        </p:txBody>
      </p:sp>
      <p:sp>
        <p:nvSpPr>
          <p:cNvPr id="74" name="Text 72"/>
          <p:cNvSpPr/>
          <p:nvPr/>
        </p:nvSpPr>
        <p:spPr>
          <a:xfrm>
            <a:off x="8275320" y="5577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F7F5"/>
                </a:solidFill>
              </a:rPr>
              <a:t>Gutter recomendado: 16–24 px  ·  Baseline: 8 px</a:t>
            </a:r>
            <a:endParaRPr lang="en-US" sz="850" dirty="0"/>
          </a:p>
        </p:txBody>
      </p:sp>
      <p:sp>
        <p:nvSpPr>
          <p:cNvPr id="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ICONOGRAFÍA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Funcional y consistente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Los iconos explican acciones y estados; los mensajes críticos siempre llevan etiqueta.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Grid 24 × 24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Stroke 1.5–2 px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Terminal redondeada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Ángulos coherentes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tinta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Clear space 2 px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ICONOGRAFÍA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7110D"/>
                </a:solidFill>
              </a:rPr>
              <a:t>Funcional y consistente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47218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2A27"/>
                </a:solidFill>
              </a:rPr>
              <a:t>Los iconos orientan, explican acciones y refuerzan estados. Nunca deben añadir ruido.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993392"/>
            <a:ext cx="2880360" cy="36118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41248" y="22677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FF4D"/>
                </a:solidFill>
              </a:rPr>
              <a:t>REGLAS DEL SISTEMA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2670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24 × 24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92224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Retícula base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99232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1.5–2 px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92224" y="32186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Grosor de trazo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3529584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41248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Redondo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2224" y="37490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Terminales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1248" y="4059936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41248" y="4261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Una tinta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92224" y="42793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Uso principal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" y="4590288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47914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2 px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2224" y="48097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Área interna mínima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1248" y="5120640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41248" y="5230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0FF4D"/>
                </a:solidFill>
              </a:rPr>
              <a:t>Principio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Misma geometría.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Mismo significado.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En todos los canales.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22192" y="2011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63D2E"/>
                </a:solidFill>
              </a:rPr>
              <a:t>FAMILIAS DE ICONOS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22192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986784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123944" y="2724912"/>
            <a:ext cx="256032" cy="292608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379976" y="2724912"/>
            <a:ext cx="109728" cy="292608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123944" y="2907792"/>
            <a:ext cx="411480" cy="329184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28032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CARGA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032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Iniciar · detener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364224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528816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656832" y="2724912"/>
            <a:ext cx="457200" cy="457200"/>
          </a:xfrm>
          <a:prstGeom prst="chevron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7370064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NAVEGACIÓN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70064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Ruta · dirección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906256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9070848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9180576" y="2834640"/>
            <a:ext cx="384048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778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9491472" y="2871216"/>
            <a:ext cx="219456" cy="201168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9912096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HOSPITALITY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12096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Coffee · lounge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822192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3986784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4187952" y="4032504"/>
            <a:ext cx="256032" cy="256032"/>
          </a:xfrm>
          <a:prstGeom prst="ellipse">
            <a:avLst/>
          </a:prstGeom>
          <a:solidFill>
            <a:srgbClr val="000000">
              <a:alpha val="0"/>
            </a:srgbClr>
          </a:solidFill>
          <a:ln w="1778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4096512" y="4261104"/>
            <a:ext cx="438912" cy="320040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828032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MEMBERS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28032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Perfil · beneficios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364224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6528816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 rot="-1500000">
            <a:off x="6638544" y="4014216"/>
            <a:ext cx="475488" cy="475488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 flipV="1">
            <a:off x="6748272" y="4151376"/>
            <a:ext cx="292608" cy="256032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7370064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SOSTENIBILIDAD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70064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Impacto · energía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906256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Shape 54"/>
          <p:cNvSpPr/>
          <p:nvPr/>
        </p:nvSpPr>
        <p:spPr>
          <a:xfrm>
            <a:off x="9070848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9217152" y="4050792"/>
            <a:ext cx="420624" cy="420624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9912096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ESTADOS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912096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Disponible · error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822192" y="5148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63D2E"/>
                </a:solidFill>
              </a:rPr>
              <a:t>USO CORRECTO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822192" y="5422392"/>
            <a:ext cx="3456432" cy="658368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Shape 60"/>
          <p:cNvSpPr/>
          <p:nvPr/>
        </p:nvSpPr>
        <p:spPr>
          <a:xfrm>
            <a:off x="4151376" y="5559552"/>
            <a:ext cx="420624" cy="420624"/>
          </a:xfrm>
          <a:prstGeom prst="ellipse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482803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5"/>
                </a:solidFill>
              </a:rPr>
              <a:t>Disponible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742432" y="563270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B9C2BD"/>
                </a:solidFill>
              </a:rPr>
              <a:t>Color + icono + texto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562088" y="51480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FF5C5C"/>
                </a:solidFill>
              </a:rPr>
              <a:t>EVITAR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562088" y="5422392"/>
            <a:ext cx="3977640" cy="658368"/>
          </a:xfrm>
          <a:prstGeom prst="roundRect">
            <a:avLst/>
          </a:prstGeom>
          <a:solidFill>
            <a:srgbClr val="FFF7F7"/>
          </a:solidFill>
          <a:ln w="10160">
            <a:solidFill>
              <a:srgbClr val="F4CA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Shape 65"/>
          <p:cNvSpPr/>
          <p:nvPr/>
        </p:nvSpPr>
        <p:spPr>
          <a:xfrm>
            <a:off x="7818120" y="5596128"/>
            <a:ext cx="237744" cy="237744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8183880" y="56052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Solo color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144000" y="56052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Iconos mezclados o sin etiqueta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438912" y="6565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kern="0" spc="150" dirty="0">
                <a:solidFill>
                  <a:srgbClr val="063D2E"/>
                </a:solidFill>
              </a:rPr>
              <a:t>EVCSE  |  BRAND STANDARDS 2.5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58200" y="656539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kern="0" spc="120" dirty="0">
                <a:solidFill>
                  <a:srgbClr val="063D2E"/>
                </a:solidFill>
              </a:rPr>
              <a:t>LÁMINA MODULAR · SISTEMA VISUAL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FOTOGRAFÍA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Life over hardware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70% vida y experiencia; 30% movilidad e infraestructura.</a:t>
            </a:r>
            <a:endParaRPr lang="en-US" sz="1250" dirty="0"/>
          </a:p>
        </p:txBody>
      </p:sp>
      <p:pic>
        <p:nvPicPr>
          <p:cNvPr id="5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8566" b="8566"/>
          <a:stretch/>
        </p:blipFill>
        <p:spPr>
          <a:xfrm>
            <a:off x="594360" y="1965960"/>
            <a:ext cx="6537960" cy="3611880"/>
          </a:xfrm>
          <a:prstGeom prst="rect">
            <a:avLst/>
          </a:prstGeom>
        </p:spPr>
      </p:pic>
      <p:pic>
        <p:nvPicPr>
          <p:cNvPr id="6" name="Image 1" descr="/mnt/data/WhatsApp Image 2026-09-23 at 11.40.36 AM.jpeg"/>
          <p:cNvPicPr>
            <a:picLocks noChangeAspect="1"/>
          </p:cNvPicPr>
          <p:nvPr/>
        </p:nvPicPr>
        <p:blipFill>
          <a:blip r:embed="rId4"/>
          <a:srcRect t="10170" b="10170"/>
          <a:stretch/>
        </p:blipFill>
        <p:spPr>
          <a:xfrm>
            <a:off x="7360920" y="1965960"/>
            <a:ext cx="4251960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FF4D"/>
                </a:solidFill>
              </a:rPr>
              <a:t>70%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2011680" y="4992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F5F7F5"/>
                </a:solidFill>
              </a:rPr>
              <a:t>EXPERIENCIA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58952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CDB8"/>
                </a:solidFill>
              </a:rPr>
              <a:t>30%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8778240" y="4992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5F7F5"/>
                </a:solidFill>
              </a:rPr>
              <a:t>INFRAESTRUCTURA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Energía que orienta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movimiento explica estado y continuidad; nunca distrae.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MICRO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150–250 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PANTALLA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250–450 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CURVA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Ease-out entrada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LINE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Trazo continuo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VALUE CLOCK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Progreso legible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REDUCED MOTION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Alternativa accesible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Evitar rebotes, destellos y loops permanentes.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5"/>
                </a:solidFill>
              </a:rPr>
              <a:t>Energía que orienta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9C2BD"/>
                </a:solidFill>
              </a:rPr>
              <a:t>El movimiento guía, confirma y conecta cada momento de la experiencia. Nunca distrae.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ENERGY LINE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2971800"/>
            <a:ext cx="6400800" cy="1"/>
          </a:xfrm>
          <a:prstGeom prst="line">
            <a:avLst/>
          </a:prstGeom>
          <a:noFill/>
          <a:ln w="63500">
            <a:solidFill>
              <a:srgbClr val="40504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60120" y="2971800"/>
            <a:ext cx="4892040" cy="1"/>
          </a:xfrm>
          <a:prstGeom prst="line">
            <a:avLst/>
          </a:prstGeom>
          <a:noFill/>
          <a:ln w="63500">
            <a:solidFill>
              <a:srgbClr val="00FF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51560" y="2688336"/>
            <a:ext cx="566928" cy="566928"/>
          </a:xfrm>
          <a:prstGeom prst="ellipse">
            <a:avLst/>
          </a:prstGeom>
          <a:solidFill>
            <a:srgbClr val="00FF4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216152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5528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CONECTA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82112" y="2688336"/>
            <a:ext cx="566928" cy="566928"/>
          </a:xfrm>
          <a:prstGeom prst="ellipse">
            <a:avLst/>
          </a:prstGeom>
          <a:solidFill>
            <a:srgbClr val="00FF4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46704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CARGA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21808" y="2688336"/>
            <a:ext cx="566928" cy="566928"/>
          </a:xfrm>
          <a:prstGeom prst="ellipse">
            <a:avLst/>
          </a:prstGeom>
          <a:solidFill>
            <a:srgbClr val="07110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86400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4D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65776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CONTINÚA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382219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2BD"/>
                </a:solidFill>
              </a:rPr>
              <a:t>La energía entra, activa y continúa hacia la siguiente acción.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1984248"/>
            <a:ext cx="2240280" cy="2240280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3541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 rot="-4200000">
            <a:off x="8458200" y="1984248"/>
            <a:ext cx="2240280" cy="2240280"/>
          </a:xfrm>
          <a:prstGeom prst="arc">
            <a:avLst/>
          </a:prstGeom>
          <a:solidFill>
            <a:srgbClr val="000000">
              <a:alpha val="0"/>
            </a:srgbClr>
          </a:solidFill>
          <a:ln w="1778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796528" y="25328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FF4D"/>
                </a:solidFill>
              </a:rPr>
              <a:t>24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71432" y="32278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7F5"/>
                </a:solidFill>
              </a:rPr>
              <a:t>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94192" y="44805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110" dirty="0">
                <a:solidFill>
                  <a:srgbClr val="00FF4D"/>
                </a:solidFill>
              </a:rPr>
              <a:t>VALUE CLOCK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92440" y="480974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9C2BD"/>
                </a:solidFill>
              </a:rPr>
              <a:t>Tiempo restante convertido en oportunidad.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58368" y="4617720"/>
            <a:ext cx="54864" cy="129844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59536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MICROINTERACCIÓN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9536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150–250 ms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59536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Confirma una selección, un botón o un cambio de estado.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3182112" y="4617720"/>
            <a:ext cx="54864" cy="129844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383280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CDB8"/>
                </a:solidFill>
              </a:rPr>
              <a:t>TRANSICIÓN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250–450 ms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383280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Conecta pantallas y pasos sin frenar el recorrido.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05856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5705856" y="4617720"/>
            <a:ext cx="54864" cy="1298448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907024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58A6FF"/>
                </a:solidFill>
              </a:rPr>
              <a:t>CURVAS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07024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Ease-out / Linear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907024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Ease-out para entrada. Linear para progreso real.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0" y="4617720"/>
            <a:ext cx="27889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8229600" y="4617720"/>
            <a:ext cx="54864" cy="1298448"/>
          </a:xfrm>
          <a:prstGeom prst="rect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8430768" y="47823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FFB547"/>
                </a:solidFill>
              </a:rPr>
              <a:t>REDUCED MOTION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30768" y="51023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Accesibilidad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430768" y="5550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Sustituir desplazamientos por opacidad y cambios de estado.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" y="61447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0FF4D"/>
                </a:solidFill>
              </a:rPr>
              <a:t>REGLA MAESTRA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874520" y="60990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5"/>
                </a:solidFill>
              </a:rPr>
              <a:t>Si el movimiento no orienta, confirma o explica, no debe utilizarse.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35440" y="611733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FF5C5C"/>
                </a:solidFill>
              </a:rPr>
              <a:t>Evitar rebotes · destellos · loops permanentes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438912" y="6565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kern="0" spc="150" dirty="0">
                <a:solidFill>
                  <a:srgbClr val="B9C2BD"/>
                </a:solidFill>
              </a:rPr>
              <a:t>EVCSE  |  BRAND STANDARDS 2.5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595360" y="6565392"/>
            <a:ext cx="2971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kern="0" spc="120" dirty="0">
                <a:solidFill>
                  <a:srgbClr val="B9C2BD"/>
                </a:solidFill>
              </a:rPr>
              <a:t>LÁMINA MODULAR · MOTION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digital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interfaz sencilla por delante y una plataforma sólida por detrás.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DESIGN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Tokens esenciales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Una fuente compartida entre diseño y desarrollo.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color.brand.energy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77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#00FF4D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21792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color.surface.deep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#07110D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color.surface.graphite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7764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#242A27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1792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color.text.primary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50976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#F5F7F5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8580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radius.card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16 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21792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space.base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0976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8 px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580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motion.fast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7764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200 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21792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stroke.icon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0976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 px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ESTADOS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 lenguaje compartido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App, web y estación deben expresar el mismo estado.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289304" y="2724912"/>
            <a:ext cx="585216" cy="585216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DISPONIBLE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98648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593592" y="2724912"/>
            <a:ext cx="585216" cy="585216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081528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RESERVADO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02936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897880" y="272491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385816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CARGANDO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07224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202168" y="2724912"/>
            <a:ext cx="585216" cy="585216"/>
          </a:xfrm>
          <a:prstGeom prst="ellipse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690104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ATENCIÓN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11512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506456" y="2724912"/>
            <a:ext cx="585216" cy="585216"/>
          </a:xfrm>
          <a:prstGeom prst="ellipse">
            <a:avLst/>
          </a:prstGeom>
          <a:solidFill>
            <a:srgbClr val="FF5C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994392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NO DISPONIBLE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166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Siempre: color + texto + icono o forma.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TIEMPO DE VALOR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Pantalla icónica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El producto no solo muestra cuánto falta; sugiere cómo aprovecharlo.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91840" cy="402336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243230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FF4D"/>
                </a:solidFill>
              </a:rPr>
              <a:t>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60020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5"/>
                </a:solidFill>
              </a:rPr>
              <a:t>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Tu vehículo carga.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Tú avanzas.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96596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50292" cy="768096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83480" y="211226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CERTEZA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247802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Disponibilidad antes de llegar.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92608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800600" y="2926080"/>
            <a:ext cx="50292" cy="768096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83480" y="307238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LIBERTAD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83480" y="343814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Elegir cómo usar el tiempo.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88620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800600" y="3886200"/>
            <a:ext cx="50292" cy="76809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83480" y="403250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PROGRESO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83480" y="439826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Estado y autonomía.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484632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800600" y="4846320"/>
            <a:ext cx="50292" cy="768096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983480" y="499262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RECURRENCIA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83480" y="535838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Puntos y beneficios.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06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física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arquitectura convierte la promesa en una experiencia tangible.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WAYFINDING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Requisitos mínimos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Lectura inmediata desde el vehículo y mantenimiento sostenible.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CONTRASTE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Deep/Cloud + color funcional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92240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DISTANCIA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Dimensionar por velocidad y ángulo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58368" y="3108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Uniforme; sin deslumbramiento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309360" y="3108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92240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MATERIALES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Exterior UV y anticorrosión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58368" y="4251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41248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ALTURA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Normativa y accesibilidad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309360" y="4251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92240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forma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Todo sitio requiere plano de wayfinding aprobado antes de fabricar.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MATERIALIDAD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ejecución y el mantenimiento pesan más que la ostentación.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SUPERFICIES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Mate o satinado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VERDE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Beacon y estados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Neutra/cálida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IMPRESIÓN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Prueba física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BORDADO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flat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GRABADO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Monocromo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Validar siempre sobre el sustrato real.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ZONAS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Nombrar por la acción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señalización también comunica la promesa.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50292" cy="1143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trabajo continúa.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0292" cy="1143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4652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PAUSE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pausa para avanzar.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50292" cy="1143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6868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CONNECT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energía conecta.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263640" y="3566160"/>
            <a:ext cx="50292" cy="114300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4652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COFFEE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Haz que los minutos valgan.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20240" y="525780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10D"/>
                </a:solidFill>
              </a:rPr>
              <a:t>SIGUE AVANZANDO  →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07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Gobierno y producción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fuente única de verdad reduce caos, reprocesos y deformaciones.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CO-BRANDING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Jerarquía de convivencia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No crear una tercera marca híbrida.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EVCSE LEAD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 y el aliado avala.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EQUAL PARTNERS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Misma altura óptica y separador.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HOST LOCATION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 anfitrión domina; EVCSE identifica la experiencia.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GOBIERNO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Roles y aprobaciones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marca se administra como un activo empresarial.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Brand Owner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874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Estrategia, aprobación y excepciones.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1343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Design Steward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2606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Archivos, estándares y control de calidad.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Product Owner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337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Experiencia digital y tokens.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77647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Experience Owner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Espacios, servicio y señalización.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50799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Partners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4800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Ejecución bajo estándares aprobados.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23951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7724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Toda excepción registra motivo, alcance, responsable y vigencia.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PAQUETE MAESTRO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Estructura y nomenclatura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Solo el repositorio oficial contiene fuentes vigentes.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01_Strategy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5020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PDF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19048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02_Logos_Vector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8232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AI · SVG · EPS · 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836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03_Logos_Raster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5020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PNG · WebP · 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19048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04_Fonts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8232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Archivos · licencias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836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05_Templates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5020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DOCX · Figma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9048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06_Applications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8232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Digital · físico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836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07_Partners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5020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Co-branding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19048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08_Archive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32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Obsoletos bloqueados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048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7724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Nombre: EVCSE_[activo]_[variante]_[versión]_[AAAAMMDD].ext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LIBERACIÓN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obligatorio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pieza solo se publica cuando cumple marca, contenido, accesibilidad y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Logo autorizado y legible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Color y contraste correctos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887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Jerarquía tipográfica consistente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Mensaje alineado con Tiempo de Valor™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887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Derechos de imágenes documentados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751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Accesibilidad validada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1887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Datos y claims comprobables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6751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Fuente y exportación archivadas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440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Aprobación final: Brand Owner o delegado formal.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CONTROL TÉCNICO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Notas de implementación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Transparencia para producción profesional.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VECTOR MAESTRO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Los PNG incluidos sirven como referencia visual. Para fabricación, registro y gran formato deben sustituirse por SVG/AI/EPS aprobados.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07408" y="214884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90288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PANTONE / MATERIALES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Definir en prueba física con proveedor, perfil ICC, iluminación y sustrato real.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083296" y="214884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266176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MARCAS 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66176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Tiempo de Valor™ y demás denominaciones requieren revisión jurídica antes de reclamar exclusividad.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Este manual es definitivo como estándar de uso; los archivos maestros de producción forman parte inseparable del sistema.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7488" r="7488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07110D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658368" y="685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4D"/>
                </a:solidFill>
              </a:rPr>
              <a:t>MANIFIESTO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F7F5"/>
                </a:solidFill>
              </a:rPr>
              <a:t>La movilidad eléctrica merece algo más que infraestructura.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85800" y="2926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9C2BD"/>
                </a:solidFill>
              </a:rPr>
              <a:t>Diseñamos espacios, servicios y tecnología que convierten la espera en oportunidad.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Tu vehículo carga.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Tú avanzas.</a:t>
            </a:r>
            <a:endParaRPr lang="en-US" sz="3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82980"/>
            <a:ext cx="4251960" cy="4251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5029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100" dirty="0">
                <a:solidFill>
                  <a:srgbClr val="F5F7F5"/>
                </a:solidFill>
              </a:rPr>
              <a:t>RECUPEREMOS EL TIEMPO.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794760" y="5806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60" dirty="0">
                <a:solidFill>
                  <a:srgbClr val="B9C2BD"/>
                </a:solidFill>
              </a:rPr>
              <a:t>EVCSE · BRAND STANDARDS 2.5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Duna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12</TotalTime>
  <Words>2600</Words>
  <Application>Microsoft Macintosh PowerPoint</Application>
  <PresentationFormat>Panorámica</PresentationFormat>
  <Paragraphs>750</Paragraphs>
  <Slides>47</Slides>
  <Notes>47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2" baseType="lpstr">
      <vt:lpstr>Aptos</vt:lpstr>
      <vt:lpstr>Arial</vt:lpstr>
      <vt:lpstr>Liberation Serif</vt:lpstr>
      <vt:lpstr>Neue Haas Grotesk Text Pro</vt:lpstr>
      <vt:lpstr>Duna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EVCSE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EVCSE Brand Standards 2.3</dc:title>
  <dc:subject>Manual técnico definitivo de implementación</dc:subject>
  <dc:creator>Jose Mercado</dc:creator>
  <cp:lastModifiedBy>Ramiro Hernandez</cp:lastModifiedBy>
  <cp:revision>4</cp:revision>
  <dcterms:created xsi:type="dcterms:W3CDTF">2026-10-11T22:05:02Z</dcterms:created>
  <dcterms:modified xsi:type="dcterms:W3CDTF">2026-10-12T00:20:31Z</dcterms:modified>
</cp:coreProperties>
</file>